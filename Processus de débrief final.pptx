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A43"/>
    <a:srgbClr val="FFC600"/>
    <a:srgbClr val="D50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82" y="-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Présenter l’objectif : valider un processus commun qui transforme chaque constat de conformité en progrès observable et suivi.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sommaire suit le chemin de décision : pourquoi standardiser, comment exécuter, qui fait quoi, avec quels outils et comment piloter.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Insister sur la double finalité : sécuriser la conformité et développer durablement la compétence, sans transformer le débrief en sanction.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Présenter le processus comme une boucle : l’écoute déclenche une action et le contrôle nourrit la prochaine analyse.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Faire valider que la qualité d’un débrief dépend d’abord de la qualité de sa préparation et de la précision des faits.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Illustrer les formulations attendues. L’enjeu est d’obtenir une compréhension partagée et un engagement formulé par le collaborateur.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Clarifier qu’un débrief n’est pas seulement une restitution d’audit : il engage le manager, le collaborateur et la fonction de contrôle.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L’exemple est une illustration de rédaction : le seuil, l’échéance et les moyens doivent être ajustés au diagnostic réel.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Utiliser SMART comme test de qualité avant de clôturer le débrief : si l’action ne peut pas être contrôlée, elle doit être reformulée.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niveau de maîtrise détermine la proximité du suivi et les moyens, mais pas l’exigence de résultat ni la traçabilité.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Cette première partie garantit l’objectivité : chaque conclusion doit pouvoir être reliée à un fait, une attente et un impact.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Relier les moyens à la cause : formation si la règle est mal comprise, entraînement si le savoir-faire manque, suivi rapproché si l’application est instable.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Faire signer un engagement utile : chacun sait ce qu’il doit faire, à quelle date et quelle preuve sera examinée.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suivi clôt la boucle : il ne suffit pas d’avoir réalisé l’action ; il faut vérifier l’évolution du comportement attendu.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Les définitions et fréquences des indicateurs seront validées pendant le pilote afin d’éviter les métriques difficiles à produire ou peu actionnables.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Conclure par une demande explicite : valider le standard, le support et la préparation du pilote, puis désigner les contributeurs du cadrage.</a:t>
            </a:r>
          </a:p>
          <a:p>
            <a:endParaRPr/>
          </a:p>
          <a:p>
            <a:r>
              <a:t>[Sources]</a:t>
            </a:r>
          </a:p>
          <a:p>
            <a:r>
              <a:t>- Présentation source fournie par l’utilisateur : Process_Debriefe_COFIDIS_Raffine(1).pptx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E8DFAD-61B8-4112-9100-8BE68E5E9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6D7F17-273A-4A25-9CE5-E9182D5FB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731412-08FF-4ECD-913D-EFB609BA9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982A27-E45D-48FF-A6C7-DA4B6D5555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BE5E0-15AC-408F-844E-CE22A57FE4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2B143C-3E36-4086-AECE-F76510BC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D7CE1-88A7-4E0E-B35B-70951F6F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1FA740-B80C-45F1-A278-E0096677EC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6824C5-9D39-4FBE-B87F-C1B6AD9239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88F33D-D370-4A85-9AE5-8DDD084927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599A0-CBDC-4034-B17B-75E0BB77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F065E6-8747-481B-B2E3-C2B70D200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C3C2B0-F0E0-4CE8-9521-6581B60A9E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E4969B-066E-49F1-962D-81124358D9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1A3084-1E06-4059-8DF0-5537434AD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77AC8A-CFD4-432A-96B1-2BA6AE49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DB96C-B748-4A54-A588-5699D0DBB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09E25D-DFF9-4C60-A9FA-4512FB8FB70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4BECE4-39E0-4F4C-B1A8-4ADA88764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ADDEC2-B6DD-42E8-B8EE-7677CEB005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2BF8FB-D2B5-4E44-AC91-D2CCB74CAB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C4146-672C-4877-BD1D-A6F47FDE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1DF696-EB98-4AF5-98CE-96B57F44A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099DB3-4BCD-463B-ADD3-F293FECAA87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DF75DA-C18D-4512-995C-0F0831F4D27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162DC9-A4BB-4316-8823-8D0C53BB5DC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58CF6A-E979-4CFB-BF20-4FB924FAD2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3DD1ED-1881-4F02-A3F1-0740F4C567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789B135-4320-4997-8073-B502179F31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E5CB1-EB9D-41E6-A344-0F5A778B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4CF6FC3-C58C-4739-AC43-3F8142FE68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EB8B205-CB6A-4F2F-9645-45766F698E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A036CF-A89B-40B5-BF2F-FF57EA3107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7FD0A4-AD85-4CB2-8200-614005C981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53B91D-A738-499D-B79E-38042E3453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E6CB1F-EAE2-4D64-AC7F-63FEFEE6F3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3B634-64DC-4BDF-90B1-A3BD73E9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238E1F-3C1E-4FAE-A504-4EE76C493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BF34C1-56C5-44E3-94EB-3F174135D0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B2F35A-11FE-4169-8666-E6FEA617C3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CFAEE0-A48E-449D-94C7-50A20CF021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9543DC-D024-4D1C-9CE0-63D5F719BD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D9BDA9-CFAA-452F-B153-A69FC503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AD2D69-42A1-4A47-AD7B-897545FEA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FAC8FE-FB27-436E-9666-423D71FBA2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B2FBAB-D76D-43EE-8088-BF115F2A2A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C03E28-1ECC-479B-B24C-64D07062C4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B579A5-EA29-4D65-8FED-41DD3EC215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52AE9-7F45-40DE-95B6-A5B46787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E6CEA9D-7FFF-444B-9244-EA1BB1E81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F2E915-EACF-4D9E-A8F6-DAD03E2D4D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AD86EC-42DE-4E62-981C-04F355B3A0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386557-22FD-482C-92F6-08AEB4265E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8FFE1A-365D-4E0E-BA23-89377EDF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687883-5ED7-4C0E-BF0B-973B51591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417A62-5F0D-4C3A-A541-DC0DB1502C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34EE70-916C-4FA7-9773-B7D0F2BED8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5E6B11-0199-4108-8005-C44ED30A1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05B622-B1A1-4656-A09D-B41DAC812A37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re et sous-titre copie 5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écision 2">
            <a:extLst>
              <a:ext uri="{FF2B5EF4-FFF2-40B4-BE49-F238E27FC236}">
                <a16:creationId xmlns:a16="http://schemas.microsoft.com/office/drawing/2014/main" id="{838F439E-0C04-461C-A042-6FF88D64ADAC}"/>
              </a:ext>
            </a:extLst>
          </p:cNvPr>
          <p:cNvSpPr>
            <a:spLocks noGrp="1"/>
          </p:cNvSpPr>
          <p:nvPr/>
        </p:nvSpPr>
        <p:spPr>
          <a:xfrm>
            <a:off x="-8382" y="0"/>
            <a:ext cx="3328907" cy="6869154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7324 h 7324"/>
              <a:gd name="connsiteX1" fmla="*/ 0 w 10000"/>
              <a:gd name="connsiteY1" fmla="*/ 591 h 7324"/>
              <a:gd name="connsiteX2" fmla="*/ 5280 w 10000"/>
              <a:gd name="connsiteY2" fmla="*/ 0 h 7324"/>
              <a:gd name="connsiteX3" fmla="*/ 10000 w 10000"/>
              <a:gd name="connsiteY3" fmla="*/ 2324 h 7324"/>
              <a:gd name="connsiteX4" fmla="*/ 0 w 10000"/>
              <a:gd name="connsiteY4" fmla="*/ 7324 h 7324"/>
              <a:gd name="connsiteX0" fmla="*/ 0 w 10000"/>
              <a:gd name="connsiteY0" fmla="*/ 9348 h 9348"/>
              <a:gd name="connsiteX1" fmla="*/ 0 w 10000"/>
              <a:gd name="connsiteY1" fmla="*/ 155 h 9348"/>
              <a:gd name="connsiteX2" fmla="*/ 6284 w 10000"/>
              <a:gd name="connsiteY2" fmla="*/ 0 h 9348"/>
              <a:gd name="connsiteX3" fmla="*/ 10000 w 10000"/>
              <a:gd name="connsiteY3" fmla="*/ 2521 h 9348"/>
              <a:gd name="connsiteX4" fmla="*/ 0 w 10000"/>
              <a:gd name="connsiteY4" fmla="*/ 9348 h 9348"/>
              <a:gd name="connsiteX0" fmla="*/ 0 w 10000"/>
              <a:gd name="connsiteY0" fmla="*/ 10029 h 10029"/>
              <a:gd name="connsiteX1" fmla="*/ 0 w 10000"/>
              <a:gd name="connsiteY1" fmla="*/ 0 h 10029"/>
              <a:gd name="connsiteX2" fmla="*/ 6284 w 10000"/>
              <a:gd name="connsiteY2" fmla="*/ 29 h 10029"/>
              <a:gd name="connsiteX3" fmla="*/ 10000 w 10000"/>
              <a:gd name="connsiteY3" fmla="*/ 2726 h 10029"/>
              <a:gd name="connsiteX4" fmla="*/ 0 w 10000"/>
              <a:gd name="connsiteY4" fmla="*/ 10029 h 10029"/>
              <a:gd name="connsiteX0" fmla="*/ 0 w 10000"/>
              <a:gd name="connsiteY0" fmla="*/ 10000 h 10000"/>
              <a:gd name="connsiteX1" fmla="*/ 0 w 10000"/>
              <a:gd name="connsiteY1" fmla="*/ 41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 w 10000"/>
              <a:gd name="connsiteY1" fmla="*/ 6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9994 h 9994"/>
              <a:gd name="connsiteX1" fmla="*/ 20 w 10000"/>
              <a:gd name="connsiteY1" fmla="*/ 0 h 9994"/>
              <a:gd name="connsiteX2" fmla="*/ 6284 w 10000"/>
              <a:gd name="connsiteY2" fmla="*/ 0 h 9994"/>
              <a:gd name="connsiteX3" fmla="*/ 10000 w 10000"/>
              <a:gd name="connsiteY3" fmla="*/ 2691 h 9994"/>
              <a:gd name="connsiteX4" fmla="*/ 0 w 10000"/>
              <a:gd name="connsiteY4" fmla="*/ 9994 h 9994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3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0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9992"/>
              <a:gd name="connsiteY0" fmla="*/ 10003 h 10003"/>
              <a:gd name="connsiteX1" fmla="*/ 13 w 9992"/>
              <a:gd name="connsiteY1" fmla="*/ 0 h 10003"/>
              <a:gd name="connsiteX2" fmla="*/ 6284 w 9992"/>
              <a:gd name="connsiteY2" fmla="*/ 0 h 10003"/>
              <a:gd name="connsiteX3" fmla="*/ 9992 w 9992"/>
              <a:gd name="connsiteY3" fmla="*/ 2700 h 10003"/>
              <a:gd name="connsiteX4" fmla="*/ 0 w 9992"/>
              <a:gd name="connsiteY4" fmla="*/ 10003 h 10003"/>
            </a:gdLst>
            <a:ahLst/>
            <a:cxnLst/>
            <a:rect l="l" t="t" r="r" b="b"/>
            <a:pathLst>
              <a:path w="9992" h="10003">
                <a:moveTo>
                  <a:pt x="0" y="10003"/>
                </a:moveTo>
                <a:cubicBezTo>
                  <a:pt x="7" y="6670"/>
                  <a:pt x="6" y="3333"/>
                  <a:pt x="13" y="0"/>
                </a:cubicBezTo>
                <a:lnTo>
                  <a:pt x="6284" y="0"/>
                </a:lnTo>
                <a:lnTo>
                  <a:pt x="9992" y="2700"/>
                </a:lnTo>
                <a:lnTo>
                  <a:pt x="0" y="10003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35719" tIns="35719" rIns="35719" bIns="35719" anchor="ctr">
            <a:normAutofit/>
          </a:bodyPr>
          <a:lstStyle/>
          <a:p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15" name="Décision 2">
            <a:extLst>
              <a:ext uri="{FF2B5EF4-FFF2-40B4-BE49-F238E27FC236}">
                <a16:creationId xmlns:a16="http://schemas.microsoft.com/office/drawing/2014/main" id="{5DD50A10-08C5-405A-81B6-5C3A9B2CCC1F}"/>
              </a:ext>
            </a:extLst>
          </p:cNvPr>
          <p:cNvSpPr>
            <a:spLocks noGrp="1"/>
          </p:cNvSpPr>
          <p:nvPr/>
        </p:nvSpPr>
        <p:spPr>
          <a:xfrm flipH="1">
            <a:off x="10756747" y="2559242"/>
            <a:ext cx="1427356" cy="4288970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</a:gdLst>
            <a:ahLst/>
            <a:cxnLst/>
            <a:rect l="l" t="t" r="r" b="b"/>
            <a:pathLst>
              <a:path w="5000" h="10000">
                <a:moveTo>
                  <a:pt x="0" y="10000"/>
                </a:moveTo>
                <a:lnTo>
                  <a:pt x="0" y="0"/>
                </a:lnTo>
                <a:lnTo>
                  <a:pt x="5000" y="5000"/>
                </a:lnTo>
                <a:lnTo>
                  <a:pt x="0" y="10000"/>
                </a:lnTo>
                <a:close/>
              </a:path>
            </a:pathLst>
          </a:custGeom>
          <a:solidFill>
            <a:srgbClr val="E7473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35719" tIns="35719" rIns="35719" bIns="35719" anchor="ctr">
            <a:normAutofit/>
          </a:bodyPr>
          <a:lstStyle/>
          <a:p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E781A0B2-4BED-494B-BC62-0692187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148" y="288713"/>
            <a:ext cx="8303812" cy="2874104"/>
          </a:xfrm>
          <a:prstGeom prst="rect">
            <a:avLst/>
          </a:prstGeom>
        </p:spPr>
        <p:txBody>
          <a:bodyPr/>
          <a:lstStyle>
            <a:lvl1pPr>
              <a:buNone/>
              <a:defRPr sz="4300" b="0">
                <a:solidFill>
                  <a:srgbClr val="FFFFFF"/>
                </a:solidFill>
              </a:defRPr>
            </a:lvl1pPr>
          </a:lstStyle>
          <a:p>
            <a:r>
              <a:t>Modifiez le style du titre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E302BF-1BCA-4310-8E56-0396AB0431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>
            <a:extLst>
              <a:ext uri="{FF2B5EF4-FFF2-40B4-BE49-F238E27FC236}">
                <a16:creationId xmlns:a16="http://schemas.microsoft.com/office/drawing/2014/main" id="{8F0E08FC-B171-4929-BC5A-E74326FB373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247804" y="3580805"/>
            <a:ext cx="3750469" cy="26521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t>Cliquez sur l'icône pour ajouter une image</a:t>
            </a:r>
          </a:p>
        </p:txBody>
      </p:sp>
      <p:sp>
        <p:nvSpPr>
          <p:cNvPr id="157" name="Shape 157">
            <a:extLst>
              <a:ext uri="{FF2B5EF4-FFF2-40B4-BE49-F238E27FC236}">
                <a16:creationId xmlns:a16="http://schemas.microsoft.com/office/drawing/2014/main" id="{7FD02DFA-C037-4A14-9C3E-55F7C197C76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52177" y="625078"/>
            <a:ext cx="3750470" cy="26521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t>Cliquez sur l'icône pour ajouter une image</a:t>
            </a:r>
          </a:p>
        </p:txBody>
      </p:sp>
      <p:sp>
        <p:nvSpPr>
          <p:cNvPr id="158" name="Shape 158">
            <a:extLst>
              <a:ext uri="{FF2B5EF4-FFF2-40B4-BE49-F238E27FC236}">
                <a16:creationId xmlns:a16="http://schemas.microsoft.com/office/drawing/2014/main" id="{4AF90E5E-EC3E-418A-961F-3222576763B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2193727" y="625078"/>
            <a:ext cx="3750469" cy="56078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t>Cliquez sur l'icône pour ajouter une image</a:t>
            </a:r>
          </a:p>
        </p:txBody>
      </p:sp>
      <p:sp>
        <p:nvSpPr>
          <p:cNvPr id="159" name="Shape 159">
            <a:extLst>
              <a:ext uri="{FF2B5EF4-FFF2-40B4-BE49-F238E27FC236}">
                <a16:creationId xmlns:a16="http://schemas.microsoft.com/office/drawing/2014/main" id="{D665E22C-A853-47AB-A908-6266CE42B35B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216000" y="6559200"/>
            <a:ext cx="408765" cy="328935"/>
          </a:xfrm>
          <a:prstGeom prst="rect">
            <a:avLst/>
          </a:prstGeom>
        </p:spPr>
        <p:txBody>
          <a:bodyPr wrap="none"/>
          <a:lstStyle>
            <a:lvl1pPr algn="ctr">
              <a:buNone/>
              <a:defRPr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l">
              <a:buNone/>
            </a:pPr>
            <a:fld id="{86CB4B4D-7CA3-9044-876B-883B54F8677D}" type="slidenum">
              <a:t>‹N°›</a:t>
            </a:fld>
            <a:endParaRPr/>
          </a:p>
        </p:txBody>
      </p:sp>
      <p:pic>
        <p:nvPicPr>
          <p:cNvPr id="165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907" y="5843449"/>
            <a:ext cx="938975" cy="8802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15049A-C912-4920-A253-643E558468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FBA831B-1FFC-4494-94B4-4E775F577D7C}" type="datetimeFigureOut">
              <a:t>19/08/2026</a:t>
            </a:fld>
            <a:endParaRPr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A29912-AB88-45FF-BAA7-0282C1EE4E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BE9766-D54C-4C0D-8272-D5C5E997AD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CE36FEA-8CB9-41FA-B479-EAB77352D1BB}" type="slidenum">
              <a:t>‹N°›</a:t>
            </a:fld>
            <a:endParaRPr/>
          </a:p>
        </p:txBody>
      </p:sp>
      <p:pic>
        <p:nvPicPr>
          <p:cNvPr id="9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856" y="177800"/>
            <a:ext cx="1527132" cy="838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34F151-4B48-4443-96A6-94BCEE24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7F2EF7-1C78-42C0-A2DA-CDE78A63E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Cliquez pour modifier les styles du texte du masque</a:t>
            </a:r>
          </a:p>
          <a:p>
            <a:pPr lvl="1">
              <a:buNone/>
            </a:pPr>
            <a:r>
              <a:t>Deuxième niveau</a:t>
            </a:r>
          </a:p>
          <a:p>
            <a:pPr lvl="2">
              <a:buNone/>
            </a:pPr>
            <a:r>
              <a:t>Troisième niveau</a:t>
            </a:r>
          </a:p>
          <a:p>
            <a:pPr lvl="3">
              <a:buNone/>
            </a:pPr>
            <a:r>
              <a:t>Quatrième niveau</a:t>
            </a:r>
          </a:p>
          <a:p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92D337-6994-4BB7-B539-7C3D4A2B306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1414-9412-4262-86EC-F84159795351}" type="datetimeFigureOut">
              <a:t>19/08/2026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25DEF3-9497-4BA5-97A4-7A381891352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A4953D-CA2C-4966-9748-DBA87225226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22-B1A1-4656-A09D-B41DAC812A37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76E736C0-728C-4D95-A59A-2BF41ADD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096" y="893"/>
            <a:ext cx="11289404" cy="1079501"/>
          </a:xfrm>
          <a:prstGeom prst="rect">
            <a:avLst/>
          </a:prstGeom>
          <a:ln w="12700"/>
        </p:spPr>
        <p:txBody>
          <a:bodyPr lIns="71437" tIns="71437" rIns="71437" bIns="71437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17D58754-561E-47E1-BD43-A54BC24D5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096" y="1163278"/>
            <a:ext cx="11013886" cy="5193358"/>
          </a:xfrm>
          <a:prstGeom prst="rect">
            <a:avLst/>
          </a:prstGeom>
          <a:ln w="12700"/>
        </p:spPr>
        <p:txBody>
          <a:bodyPr lIns="71437" tIns="71437" rIns="71437" bIns="71437">
            <a:normAutofit/>
          </a:bodyPr>
          <a:lstStyle>
            <a:lvl2pPr marL="860627" indent="-416127">
              <a:buClr>
                <a:srgbClr val="E7473D"/>
              </a:buClr>
              <a:buSzPct val="100000"/>
              <a:buChar char="▪"/>
              <a:defRPr sz="4200">
                <a:solidFill>
                  <a:srgbClr val="000000"/>
                </a:solidFill>
              </a:defRPr>
            </a:lvl2pPr>
            <a:lvl3pPr marL="1270000" indent="-381000">
              <a:spcBef>
                <a:spcPts val="1000"/>
              </a:spcBef>
              <a:buClr>
                <a:srgbClr val="A6AAA9"/>
              </a:buClr>
              <a:buSzPct val="100000"/>
              <a:buChar char="▪"/>
              <a:defRPr sz="4100">
                <a:solidFill>
                  <a:srgbClr val="53585F"/>
                </a:solidFill>
              </a:defRPr>
            </a:lvl3pPr>
            <a:lvl4pPr marL="1651000" indent="-317500">
              <a:spcBef>
                <a:spcPts val="500"/>
              </a:spcBef>
              <a:buClr>
                <a:srgbClr val="A6AAA9"/>
              </a:buClr>
              <a:buChar char="▪"/>
              <a:defRPr sz="3600">
                <a:solidFill>
                  <a:srgbClr val="53585F"/>
                </a:solidFill>
              </a:defRPr>
            </a:lvl4pPr>
            <a:lvl5pPr marL="2095500" indent="-317500">
              <a:spcBef>
                <a:spcPts val="500"/>
              </a:spcBef>
              <a:buClr>
                <a:srgbClr val="A6AAA9"/>
              </a:buClr>
              <a:buChar char="▪"/>
              <a:defRPr sz="3600">
                <a:solidFill>
                  <a:srgbClr val="53585F"/>
                </a:solidFill>
              </a:defRPr>
            </a:lvl5pPr>
          </a:lstStyle>
          <a:p>
            <a:r>
              <a:t>Texte niveau 1</a:t>
            </a:r>
          </a:p>
          <a:p>
            <a:pPr lvl="1">
              <a:buNone/>
            </a:pPr>
            <a:r>
              <a:t>Texte niveau 2</a:t>
            </a:r>
          </a:p>
          <a:p>
            <a:pPr lvl="2">
              <a:buNone/>
            </a:pPr>
            <a:r>
              <a:t>Texte niveau 3</a:t>
            </a:r>
          </a:p>
          <a:p>
            <a:pPr lvl="3">
              <a:buNone/>
            </a:pPr>
            <a:r>
              <a:t>Texte niveau 4</a:t>
            </a:r>
          </a:p>
          <a:p>
            <a:pPr lvl="4">
              <a:buNone/>
            </a:pPr>
            <a:r>
              <a:t>Texte niveau 5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3F5ED51-86DF-48A3-8E0F-E59BBCAE0490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216000" y="6559200"/>
            <a:ext cx="404978" cy="328935"/>
          </a:xfrm>
          <a:prstGeom prst="rect">
            <a:avLst/>
          </a:prstGeom>
          <a:ln w="12700"/>
        </p:spPr>
        <p:txBody>
          <a:bodyPr lIns="71437" tIns="71437" rIns="71437" bIns="71437">
            <a:spAutoFit/>
          </a:bodyPr>
          <a:lstStyle>
            <a:lvl1pPr algn="l">
              <a:buNone/>
              <a:defRPr sz="1200">
                <a:solidFill>
                  <a:srgbClr val="666565"/>
                </a:solidFill>
                <a:latin typeface="Segoe UI Light"/>
                <a:ea typeface="Segoe UI Light"/>
                <a:cs typeface="Segoe UI Light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9" name="Décision 2">
            <a:extLst>
              <a:ext uri="{FF2B5EF4-FFF2-40B4-BE49-F238E27FC236}">
                <a16:creationId xmlns:a16="http://schemas.microsoft.com/office/drawing/2014/main" id="{624A0865-67E4-40EC-897F-0AF2F0257C2C}"/>
              </a:ext>
            </a:extLst>
          </p:cNvPr>
          <p:cNvSpPr>
            <a:spLocks noGrp="1"/>
          </p:cNvSpPr>
          <p:nvPr/>
        </p:nvSpPr>
        <p:spPr>
          <a:xfrm>
            <a:off x="973" y="-120"/>
            <a:ext cx="700630" cy="1597854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7324 h 7324"/>
              <a:gd name="connsiteX1" fmla="*/ 0 w 10000"/>
              <a:gd name="connsiteY1" fmla="*/ 591 h 7324"/>
              <a:gd name="connsiteX2" fmla="*/ 5280 w 10000"/>
              <a:gd name="connsiteY2" fmla="*/ 0 h 7324"/>
              <a:gd name="connsiteX3" fmla="*/ 10000 w 10000"/>
              <a:gd name="connsiteY3" fmla="*/ 2324 h 7324"/>
              <a:gd name="connsiteX4" fmla="*/ 0 w 10000"/>
              <a:gd name="connsiteY4" fmla="*/ 7324 h 7324"/>
              <a:gd name="connsiteX0" fmla="*/ 0 w 10000"/>
              <a:gd name="connsiteY0" fmla="*/ 9348 h 9348"/>
              <a:gd name="connsiteX1" fmla="*/ 0 w 10000"/>
              <a:gd name="connsiteY1" fmla="*/ 155 h 9348"/>
              <a:gd name="connsiteX2" fmla="*/ 6284 w 10000"/>
              <a:gd name="connsiteY2" fmla="*/ 0 h 9348"/>
              <a:gd name="connsiteX3" fmla="*/ 10000 w 10000"/>
              <a:gd name="connsiteY3" fmla="*/ 2521 h 9348"/>
              <a:gd name="connsiteX4" fmla="*/ 0 w 10000"/>
              <a:gd name="connsiteY4" fmla="*/ 9348 h 9348"/>
              <a:gd name="connsiteX0" fmla="*/ 0 w 10000"/>
              <a:gd name="connsiteY0" fmla="*/ 10029 h 10029"/>
              <a:gd name="connsiteX1" fmla="*/ 0 w 10000"/>
              <a:gd name="connsiteY1" fmla="*/ 0 h 10029"/>
              <a:gd name="connsiteX2" fmla="*/ 6284 w 10000"/>
              <a:gd name="connsiteY2" fmla="*/ 29 h 10029"/>
              <a:gd name="connsiteX3" fmla="*/ 10000 w 10000"/>
              <a:gd name="connsiteY3" fmla="*/ 2726 h 10029"/>
              <a:gd name="connsiteX4" fmla="*/ 0 w 10000"/>
              <a:gd name="connsiteY4" fmla="*/ 10029 h 10029"/>
              <a:gd name="connsiteX0" fmla="*/ 0 w 10000"/>
              <a:gd name="connsiteY0" fmla="*/ 10000 h 10000"/>
              <a:gd name="connsiteX1" fmla="*/ 0 w 10000"/>
              <a:gd name="connsiteY1" fmla="*/ 41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 w 10000"/>
              <a:gd name="connsiteY1" fmla="*/ 6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9994 h 9994"/>
              <a:gd name="connsiteX1" fmla="*/ 20 w 10000"/>
              <a:gd name="connsiteY1" fmla="*/ 0 h 9994"/>
              <a:gd name="connsiteX2" fmla="*/ 6284 w 10000"/>
              <a:gd name="connsiteY2" fmla="*/ 0 h 9994"/>
              <a:gd name="connsiteX3" fmla="*/ 10000 w 10000"/>
              <a:gd name="connsiteY3" fmla="*/ 2691 h 9994"/>
              <a:gd name="connsiteX4" fmla="*/ 0 w 10000"/>
              <a:gd name="connsiteY4" fmla="*/ 9994 h 9994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3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0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9992"/>
              <a:gd name="connsiteY0" fmla="*/ 10003 h 10003"/>
              <a:gd name="connsiteX1" fmla="*/ 13 w 9992"/>
              <a:gd name="connsiteY1" fmla="*/ 0 h 10003"/>
              <a:gd name="connsiteX2" fmla="*/ 6284 w 9992"/>
              <a:gd name="connsiteY2" fmla="*/ 0 h 10003"/>
              <a:gd name="connsiteX3" fmla="*/ 9992 w 9992"/>
              <a:gd name="connsiteY3" fmla="*/ 2700 h 10003"/>
              <a:gd name="connsiteX4" fmla="*/ 0 w 9992"/>
              <a:gd name="connsiteY4" fmla="*/ 10003 h 10003"/>
              <a:gd name="connsiteX0" fmla="*/ 0 w 10000"/>
              <a:gd name="connsiteY0" fmla="*/ 11065 h 11065"/>
              <a:gd name="connsiteX1" fmla="*/ 13 w 10000"/>
              <a:gd name="connsiteY1" fmla="*/ 1065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5 h 11065"/>
              <a:gd name="connsiteX1" fmla="*/ 13 w 10000"/>
              <a:gd name="connsiteY1" fmla="*/ 14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5 h 11065"/>
              <a:gd name="connsiteX1" fmla="*/ 43 w 10000"/>
              <a:gd name="connsiteY1" fmla="*/ 14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6 h 11066"/>
              <a:gd name="connsiteX1" fmla="*/ 73 w 10000"/>
              <a:gd name="connsiteY1" fmla="*/ 0 h 11066"/>
              <a:gd name="connsiteX2" fmla="*/ 4815 w 10000"/>
              <a:gd name="connsiteY2" fmla="*/ 1 h 11066"/>
              <a:gd name="connsiteX3" fmla="*/ 10000 w 10000"/>
              <a:gd name="connsiteY3" fmla="*/ 3765 h 11066"/>
              <a:gd name="connsiteX4" fmla="*/ 0 w 10000"/>
              <a:gd name="connsiteY4" fmla="*/ 11066 h 11066"/>
              <a:gd name="connsiteX0" fmla="*/ 0 w 10000"/>
              <a:gd name="connsiteY0" fmla="*/ 11066 h 11066"/>
              <a:gd name="connsiteX1" fmla="*/ 13 w 10000"/>
              <a:gd name="connsiteY1" fmla="*/ 0 h 11066"/>
              <a:gd name="connsiteX2" fmla="*/ 4815 w 10000"/>
              <a:gd name="connsiteY2" fmla="*/ 1 h 11066"/>
              <a:gd name="connsiteX3" fmla="*/ 10000 w 10000"/>
              <a:gd name="connsiteY3" fmla="*/ 3765 h 11066"/>
              <a:gd name="connsiteX4" fmla="*/ 0 w 10000"/>
              <a:gd name="connsiteY4" fmla="*/ 11066 h 11066"/>
            </a:gdLst>
            <a:ahLst/>
            <a:cxnLst/>
            <a:rect l="l" t="t" r="r" b="b"/>
            <a:pathLst>
              <a:path w="10000" h="11066">
                <a:moveTo>
                  <a:pt x="0" y="11066"/>
                </a:moveTo>
                <a:cubicBezTo>
                  <a:pt x="7" y="7734"/>
                  <a:pt x="6" y="3332"/>
                  <a:pt x="13" y="0"/>
                </a:cubicBezTo>
                <a:lnTo>
                  <a:pt x="4815" y="1"/>
                </a:lnTo>
                <a:lnTo>
                  <a:pt x="10000" y="3765"/>
                </a:lnTo>
                <a:lnTo>
                  <a:pt x="0" y="11066"/>
                </a:lnTo>
                <a:close/>
              </a:path>
            </a:pathLst>
          </a:custGeom>
          <a:solidFill>
            <a:srgbClr val="E7473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35719" tIns="35719" rIns="35719" bIns="35719" anchor="ctr">
            <a:normAutofit/>
          </a:bodyPr>
          <a:lstStyle/>
          <a:p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10" name="Décision 2">
            <a:extLst>
              <a:ext uri="{FF2B5EF4-FFF2-40B4-BE49-F238E27FC236}">
                <a16:creationId xmlns:a16="http://schemas.microsoft.com/office/drawing/2014/main" id="{27B6CE34-410C-4716-8E53-B8BDC7426567}"/>
              </a:ext>
            </a:extLst>
          </p:cNvPr>
          <p:cNvSpPr>
            <a:spLocks noGrp="1"/>
          </p:cNvSpPr>
          <p:nvPr/>
        </p:nvSpPr>
        <p:spPr>
          <a:xfrm>
            <a:off x="972" y="6524537"/>
            <a:ext cx="120668" cy="333463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</a:gdLst>
            <a:ahLst/>
            <a:cxnLst/>
            <a:rect l="l" t="t" r="r" b="b"/>
            <a:pathLst>
              <a:path w="5000" h="10000">
                <a:moveTo>
                  <a:pt x="0" y="10000"/>
                </a:moveTo>
                <a:lnTo>
                  <a:pt x="0" y="0"/>
                </a:lnTo>
                <a:lnTo>
                  <a:pt x="5000" y="5000"/>
                </a:lnTo>
                <a:lnTo>
                  <a:pt x="0" y="10000"/>
                </a:lnTo>
                <a:close/>
              </a:path>
            </a:pathLst>
          </a:custGeom>
          <a:solidFill>
            <a:srgbClr val="003A8D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ot="0" spcFirstLastPara="1" vert="horz" wrap="square" lIns="35719" tIns="35719" rIns="35719" bIns="35719" anchor="ctr">
            <a:normAutofit/>
          </a:bodyPr>
          <a:lstStyle/>
          <a:p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78AA7-1AD5-4A24-9CEB-57142F51A602}"/>
              </a:ext>
            </a:extLst>
          </p:cNvPr>
          <p:cNvSpPr>
            <a:spLocks noGrp="1"/>
          </p:cNvSpPr>
          <p:nvPr/>
        </p:nvSpPr>
        <p:spPr>
          <a:xfrm>
            <a:off x="9103583" y="5191125"/>
            <a:ext cx="972000" cy="9720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marL="0" marR="0" indent="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egoe UI Light"/>
          <a:ea typeface="Segoe UI Light"/>
          <a:cs typeface="Segoe UI Light"/>
        </a:defRPr>
      </a:lvl1pPr>
      <a:lvl2pPr marL="0" marR="0" indent="1143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2pPr>
      <a:lvl3pPr marL="0" marR="0" indent="2286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3pPr>
      <a:lvl4pPr marL="0" marR="0" indent="3429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4pPr>
      <a:lvl5pPr marL="0" marR="0" indent="4572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5pPr>
      <a:lvl6pPr marL="0" marR="0" indent="5715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6pPr>
      <a:lvl7pPr marL="0" marR="0" indent="6858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7pPr>
      <a:lvl8pPr marL="0" marR="0" indent="8001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8pPr>
      <a:lvl9pPr marL="0" marR="0" indent="9144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9pPr>
    </p:titleStyle>
    <p:bodyStyle>
      <a:lvl1pPr marL="0" marR="0" indent="0" algn="l" defTabSz="292100">
        <a:lnSpc>
          <a:spcPct val="90000"/>
        </a:lnSpc>
        <a:spcBef>
          <a:spcPts val="750"/>
        </a:spcBef>
        <a:spcAft>
          <a:spcPts val="0"/>
        </a:spcAft>
        <a:buClrTx/>
        <a:buSzTx/>
        <a:buFontTx/>
        <a:buNone/>
        <a:defRPr sz="2000" b="0" i="0" u="none" cap="none" spc="0" baseline="0">
          <a:ln>
            <a:noFill/>
          </a:ln>
          <a:solidFill>
            <a:srgbClr val="013A8D"/>
          </a:solidFill>
          <a:latin typeface="+mj-lt"/>
          <a:ea typeface="+mj-lt"/>
          <a:cs typeface="+mj-lt"/>
        </a:defRPr>
      </a:lvl1pPr>
      <a:lvl2pPr marL="51858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000" b="0" i="0" u="none" cap="none" spc="0" baseline="0">
          <a:ln>
            <a:noFill/>
          </a:ln>
          <a:solidFill>
            <a:srgbClr val="003A8D"/>
          </a:solidFill>
          <a:latin typeface="Segoe UI Semilight"/>
          <a:ea typeface="Segoe UI Semilight"/>
          <a:cs typeface="Segoe UI Semilight"/>
        </a:defRPr>
      </a:lvl2pPr>
      <a:lvl3pPr marL="74083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000" b="0" i="0" u="none" cap="none" spc="0" baseline="0">
          <a:ln>
            <a:noFill/>
          </a:ln>
          <a:solidFill>
            <a:schemeClr val="accent1">
              <a:lumMod val="75000"/>
            </a:schemeClr>
          </a:solidFill>
          <a:latin typeface="Segoe UI Semilight"/>
          <a:ea typeface="Segoe UI Semilight"/>
          <a:cs typeface="Segoe UI Semilight"/>
        </a:defRPr>
      </a:lvl3pPr>
      <a:lvl4pPr marL="96308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1600" b="0" i="0" u="none" cap="none" spc="0" baseline="0">
          <a:ln>
            <a:noFill/>
          </a:ln>
          <a:solidFill>
            <a:srgbClr val="013A8D"/>
          </a:solidFill>
          <a:latin typeface="Segoe UI Semilight"/>
          <a:ea typeface="Segoe UI Semilight"/>
          <a:cs typeface="Segoe UI Semilight"/>
        </a:defRPr>
      </a:lvl4pPr>
      <a:lvl5pPr marL="118533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1600" b="0" i="0" u="none" cap="none" spc="0" baseline="0">
          <a:ln>
            <a:noFill/>
          </a:ln>
          <a:solidFill>
            <a:srgbClr val="013A8D"/>
          </a:solidFill>
          <a:latin typeface="Segoe UI Semilight"/>
          <a:ea typeface="Segoe UI Semilight"/>
          <a:cs typeface="Segoe UI Semilight"/>
        </a:defRPr>
      </a:lvl5pPr>
      <a:lvl6pPr marL="140758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6pPr>
      <a:lvl7pPr marL="162983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7pPr>
      <a:lvl8pPr marL="185208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8pPr>
      <a:lvl9pPr marL="207433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9pPr>
    </p:bodyStyle>
    <p:otherStyle>
      <a:lvl1pPr marL="0" marR="0" indent="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1pPr>
      <a:lvl2pPr marL="0" marR="0" indent="1143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2pPr>
      <a:lvl3pPr marL="0" marR="0" indent="2286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3pPr>
      <a:lvl4pPr marL="0" marR="0" indent="3429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4pPr>
      <a:lvl5pPr marL="0" marR="0" indent="4572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5pPr>
      <a:lvl6pPr marL="0" marR="0" indent="5715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6pPr>
      <a:lvl7pPr marL="0" marR="0" indent="6858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7pPr>
      <a:lvl8pPr marL="0" marR="0" indent="8001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8pPr>
      <a:lvl9pPr marL="0" marR="0" indent="9144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62877-7165-4CA0-9737-CD5713BB4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000250"/>
            <a:ext cx="676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Processus de débrief</a:t>
            </a:r>
          </a:p>
          <a:p>
            <a:pPr algn="l"/>
            <a:r>
              <a:rPr sz="29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Proposition de standardisation</a:t>
            </a:r>
          </a:p>
        </p:txBody>
      </p:sp>
      <p:pic>
        <p:nvPicPr>
          <p:cNvPr id="1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8248650" y="762000"/>
            <a:ext cx="2667000" cy="1771650"/>
          </a:xfrm>
          <a:prstGeom prst="rect">
            <a:avLst/>
          </a:prstGeom>
        </p:spPr>
      </p:pic>
      <p:pic>
        <p:nvPicPr>
          <p:cNvPr id="14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950" y="2800350"/>
            <a:ext cx="3238500" cy="1733550"/>
          </a:xfrm>
          <a:prstGeom prst="rect">
            <a:avLst/>
          </a:prstGeom>
        </p:spPr>
      </p:pic>
      <p:pic>
        <p:nvPicPr>
          <p:cNvPr id="15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905500"/>
            <a:ext cx="1200150" cy="666750"/>
          </a:xfrm>
          <a:prstGeom prst="rect">
            <a:avLst/>
          </a:prstGeom>
        </p:spPr>
      </p:pic>
      <p:sp>
        <p:nvSpPr>
          <p:cNvPr id="7" name="Parchemin : horizontal 6">
            <a:extLst>
              <a:ext uri="{FF2B5EF4-FFF2-40B4-BE49-F238E27FC236}">
                <a16:creationId xmlns:a16="http://schemas.microsoft.com/office/drawing/2014/main" id="{6256A075-571B-47A8-9821-2A94804A50C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4762500" cy="742950"/>
          </a:xfrm>
          <a:prstGeom prst="horizontalScroll">
            <a:avLst/>
          </a:prstGeom>
          <a:solidFill>
            <a:srgbClr val="FFF7D6"/>
          </a:solidFill>
          <a:ln w="9525">
            <a:solidFill>
              <a:srgbClr val="FFC6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5250" tIns="47625" rIns="95250" bIns="47625" anchor="ctr">
            <a:no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Proposition du pôle Conformité</a:t>
            </a:r>
          </a:p>
          <a:p>
            <a:pPr algn="ctr"/>
            <a:r>
              <a:rPr sz="1200">
                <a:solidFill>
                  <a:srgbClr val="627D98"/>
                </a:solidFill>
                <a:latin typeface="Arial"/>
                <a:ea typeface="Arial"/>
                <a:cs typeface="Arial"/>
              </a:rPr>
              <a:t>BELRHITI HAJAR</a:t>
            </a:r>
          </a:p>
        </p:txBody>
      </p:sp>
      <p:pic>
        <p:nvPicPr>
          <p:cNvPr id="17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8350" y="5791200"/>
            <a:ext cx="8953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23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D24B1B2-045B-4C2D-AF1D-41F08E9BB2E6}"/>
              </a:ext>
            </a:extLst>
          </p:cNvPr>
          <p:cNvSpPr>
            <a:spLocks noGrp="1"/>
          </p:cNvSpPr>
          <p:nvPr/>
        </p:nvSpPr>
        <p:spPr>
          <a:xfrm>
            <a:off x="920262" y="2622794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D5004F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· Finalité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A388489-9B1D-48E5-9748-F8FEBAD77835}"/>
              </a:ext>
            </a:extLst>
          </p:cNvPr>
          <p:cNvSpPr>
            <a:spLocks noGrp="1"/>
          </p:cNvSpPr>
          <p:nvPr/>
        </p:nvSpPr>
        <p:spPr>
          <a:xfrm>
            <a:off x="3015762" y="2622794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102A43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· Parcours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EBFCCDB-DB9D-47E4-B644-32DE741CFB45}"/>
              </a:ext>
            </a:extLst>
          </p:cNvPr>
          <p:cNvSpPr>
            <a:spLocks noGrp="1"/>
          </p:cNvSpPr>
          <p:nvPr/>
        </p:nvSpPr>
        <p:spPr>
          <a:xfrm>
            <a:off x="5111262" y="2622794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D5004F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· Rôles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2EF51DA-1A86-41FA-9FBE-6C20FB48C3EE}"/>
              </a:ext>
            </a:extLst>
          </p:cNvPr>
          <p:cNvSpPr>
            <a:spLocks noGrp="1"/>
          </p:cNvSpPr>
          <p:nvPr/>
        </p:nvSpPr>
        <p:spPr>
          <a:xfrm>
            <a:off x="7206762" y="2622794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102A43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· Outils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C15B3EC-A9C0-40F6-B322-C8C19755DB13}"/>
              </a:ext>
            </a:extLst>
          </p:cNvPr>
          <p:cNvSpPr>
            <a:spLocks noGrp="1"/>
          </p:cNvSpPr>
          <p:nvPr/>
        </p:nvSpPr>
        <p:spPr>
          <a:xfrm>
            <a:off x="9302262" y="2622794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D5004F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 · Pilotage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7D720E2-F7CC-4B66-B769-CE21D3D9B95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6572250" cy="100584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ln w="0">
                  <a:noFill/>
                  <a:prstDash val="solid"/>
                </a:ln>
                <a:solidFill>
                  <a:srgbClr val="102A43"/>
                </a:solidFill>
                <a:latin typeface="Arial"/>
                <a:ea typeface="Arial"/>
                <a:cs typeface="Arial"/>
              </a:rPr>
              <a:t>Sommaire — de la conformité au progrès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5A43FED-85A4-4D0A-9215-CA7FFDA2BA0C}"/>
              </a:ext>
            </a:extLst>
          </p:cNvPr>
          <p:cNvSpPr>
            <a:spLocks noGrp="1"/>
          </p:cNvSpPr>
          <p:nvPr/>
        </p:nvSpPr>
        <p:spPr>
          <a:xfrm>
            <a:off x="920262" y="3920881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114300" rIns="95250" bIns="114300" anchor="ctr">
            <a:noAutofit/>
          </a:bodyPr>
          <a:lstStyle/>
          <a:p>
            <a:pPr algn="ctr"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Définition</a:t>
            </a:r>
            <a:r>
              <a:rPr sz="1238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</a:t>
            </a:r>
            <a:r>
              <a:rPr sz="1238" b="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objectifs</a:t>
            </a:r>
            <a:r>
              <a:rPr sz="1238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et </a:t>
            </a:r>
            <a:r>
              <a:rPr sz="1238" b="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principes</a:t>
            </a:r>
            <a:r>
              <a:rPr sz="1238" b="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non </a:t>
            </a:r>
            <a:r>
              <a:rPr sz="1238" b="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négociables</a:t>
            </a:r>
            <a:endParaRPr sz="1238" b="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805C39C-5532-4AF5-AE8E-F356FCB57166}"/>
              </a:ext>
            </a:extLst>
          </p:cNvPr>
          <p:cNvSpPr>
            <a:spLocks noGrp="1"/>
          </p:cNvSpPr>
          <p:nvPr/>
        </p:nvSpPr>
        <p:spPr>
          <a:xfrm>
            <a:off x="3015762" y="3920881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7D6"/>
          </a:solidFill>
          <a:ln w="9525">
            <a:solidFill>
              <a:srgbClr val="FFC600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114300" rIns="95250" bIns="114300" anchor="ctr">
            <a:noAutofit/>
          </a:bodyPr>
          <a:lstStyle/>
          <a:p>
            <a:pPr algn="ctr"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Préparation, entretien et plan d’action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46D775D-D76B-47AC-B1F8-614E1862263B}"/>
              </a:ext>
            </a:extLst>
          </p:cNvPr>
          <p:cNvSpPr>
            <a:spLocks noGrp="1"/>
          </p:cNvSpPr>
          <p:nvPr/>
        </p:nvSpPr>
        <p:spPr>
          <a:xfrm>
            <a:off x="5111262" y="3920881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114300" rIns="95250" bIns="114300" anchor="ctr">
            <a:noAutofit/>
          </a:bodyPr>
          <a:lstStyle/>
          <a:p>
            <a:pPr algn="ctr">
              <a:lnSpc>
                <a:spcPct val="90000"/>
              </a:lnSpc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Manager, collaborateur et Conformité / Qualité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2CABB22-5D43-47C9-A3DF-4C88DD0A2D94}"/>
              </a:ext>
            </a:extLst>
          </p:cNvPr>
          <p:cNvSpPr>
            <a:spLocks noGrp="1"/>
          </p:cNvSpPr>
          <p:nvPr/>
        </p:nvSpPr>
        <p:spPr>
          <a:xfrm>
            <a:off x="7206762" y="3920881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7D6"/>
          </a:solidFill>
          <a:ln w="9525">
            <a:solidFill>
              <a:srgbClr val="FFC600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114300" rIns="95250" bIns="114300" anchor="ctr">
            <a:noAutofit/>
          </a:bodyPr>
          <a:lstStyle/>
          <a:p>
            <a:pPr algn="ctr">
              <a:lnSpc>
                <a:spcPct val="90000"/>
              </a:lnSpc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SMART, profils, fiches et engagements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AFFE78D-FF8F-4466-91AD-724604E55185}"/>
              </a:ext>
            </a:extLst>
          </p:cNvPr>
          <p:cNvSpPr>
            <a:spLocks noGrp="1"/>
          </p:cNvSpPr>
          <p:nvPr/>
        </p:nvSpPr>
        <p:spPr>
          <a:xfrm>
            <a:off x="9302262" y="3920881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114300" rIns="95250" bIns="114300" anchor="ctr">
            <a:noAutofit/>
          </a:bodyPr>
          <a:lstStyle/>
          <a:p>
            <a:pPr algn="ctr">
              <a:lnSpc>
                <a:spcPct val="90000"/>
              </a:lnSpc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Suivi, indicateurs et décision de déploiement</a:t>
            </a:r>
          </a:p>
        </p:txBody>
      </p:sp>
    </p:spTree>
    <p:extLst>
      <p:ext uri="{BB962C8B-B14F-4D97-AF65-F5344CB8AC3E}">
        <p14:creationId xmlns:p14="http://schemas.microsoft.com/office/powerpoint/2010/main" val="184388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noGrp="1"/>
          </p:cNvSpPr>
          <p:nvPr/>
        </p:nvSpPr>
        <p:spPr>
          <a:xfrm>
            <a:off x="909516" y="409819"/>
            <a:ext cx="9239250" cy="1403106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4"/>
              </a:spcAft>
            </a:pPr>
            <a:r>
              <a:rPr sz="28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Le </a:t>
            </a:r>
            <a:r>
              <a:rPr sz="28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débrief</a:t>
            </a:r>
            <a:r>
              <a:rPr sz="28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transforme</a:t>
            </a:r>
            <a:r>
              <a:rPr sz="28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un </a:t>
            </a:r>
            <a:r>
              <a:rPr sz="28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constat</a:t>
            </a:r>
            <a:r>
              <a:rPr sz="28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de </a:t>
            </a:r>
            <a:r>
              <a:rPr sz="28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conformité</a:t>
            </a:r>
            <a:r>
              <a:rPr sz="28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</a:t>
            </a:r>
            <a:r>
              <a:rPr sz="28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progrès</a:t>
            </a:r>
            <a:r>
              <a:rPr sz="28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observable</a:t>
            </a:r>
          </a:p>
          <a:p>
            <a:pPr algn="l"/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Un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échange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structuré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,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factuel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 et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participatif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 entre le manager et le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conseiller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 (CC),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fondé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 sur des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appels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réellement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 </a:t>
            </a:r>
            <a:r>
              <a:rPr sz="1250" dirty="0" err="1">
                <a:solidFill>
                  <a:srgbClr val="627D98"/>
                </a:solidFill>
                <a:latin typeface="Arial"/>
                <a:ea typeface="Arial"/>
                <a:cs typeface="Arial"/>
              </a:rPr>
              <a:t>analysés</a:t>
            </a:r>
            <a:r>
              <a:rPr sz="1250" dirty="0">
                <a:solidFill>
                  <a:srgbClr val="627D9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purpose-1">
            <a:extLst>
              <a:ext uri="{FF2B5EF4-FFF2-40B4-BE49-F238E27FC236}">
                <a16:creationId xmlns:a16="http://schemas.microsoft.com/office/drawing/2014/main" id="{994F174C-BDF5-4FAB-B504-83BAD3C43108}"/>
              </a:ext>
            </a:extLst>
          </p:cNvPr>
          <p:cNvSpPr>
            <a:spLocks noGrp="1"/>
          </p:cNvSpPr>
          <p:nvPr/>
        </p:nvSpPr>
        <p:spPr>
          <a:xfrm>
            <a:off x="819150" y="2265240"/>
            <a:ext cx="2333625" cy="2000250"/>
          </a:xfrm>
          <a:prstGeom prst="roundRect">
            <a:avLst>
              <a:gd name="adj" fmla="val 5714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7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Sécuriser</a:t>
            </a:r>
          </a:p>
          <a:p>
            <a:pPr algn="ctr"/>
            <a:r>
              <a:rPr sz="12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Relier les écarts aux exigences, procédures et risques associés.</a:t>
            </a:r>
          </a:p>
        </p:txBody>
      </p:sp>
      <p:sp>
        <p:nvSpPr>
          <p:cNvPr id="10" name="purpose-2">
            <a:extLst>
              <a:ext uri="{FF2B5EF4-FFF2-40B4-BE49-F238E27FC236}">
                <a16:creationId xmlns:a16="http://schemas.microsoft.com/office/drawing/2014/main" id="{BB83486D-53E4-4285-AF9B-06C37FA4FCDE}"/>
              </a:ext>
            </a:extLst>
          </p:cNvPr>
          <p:cNvSpPr>
            <a:spLocks noGrp="1"/>
          </p:cNvSpPr>
          <p:nvPr/>
        </p:nvSpPr>
        <p:spPr>
          <a:xfrm>
            <a:off x="3448050" y="2265240"/>
            <a:ext cx="2333625" cy="2000250"/>
          </a:xfrm>
          <a:prstGeom prst="roundRect">
            <a:avLst>
              <a:gd name="adj" fmla="val 5714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Comprendre</a:t>
            </a:r>
          </a:p>
          <a:p>
            <a:pPr algn="ctr"/>
            <a:r>
              <a:rPr sz="1250">
                <a:solidFill>
                  <a:srgbClr val="243B53"/>
                </a:solidFill>
                <a:latin typeface="Arial"/>
                <a:ea typeface="Arial"/>
                <a:cs typeface="Arial"/>
              </a:rPr>
              <a:t>Faire distinguer les faits, leurs impacts et les causes probables.</a:t>
            </a:r>
          </a:p>
        </p:txBody>
      </p:sp>
      <p:sp>
        <p:nvSpPr>
          <p:cNvPr id="11" name="purpose-3">
            <a:extLst>
              <a:ext uri="{FF2B5EF4-FFF2-40B4-BE49-F238E27FC236}">
                <a16:creationId xmlns:a16="http://schemas.microsoft.com/office/drawing/2014/main" id="{729A11BF-C9E8-4F14-A585-5BF6BCF7BBF7}"/>
              </a:ext>
            </a:extLst>
          </p:cNvPr>
          <p:cNvSpPr>
            <a:spLocks noGrp="1"/>
          </p:cNvSpPr>
          <p:nvPr/>
        </p:nvSpPr>
        <p:spPr>
          <a:xfrm>
            <a:off x="6076950" y="2265240"/>
            <a:ext cx="2333625" cy="2000250"/>
          </a:xfrm>
          <a:prstGeom prst="roundRect">
            <a:avLst>
              <a:gd name="adj" fmla="val 5714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7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Progresser</a:t>
            </a:r>
          </a:p>
          <a:p>
            <a:pPr algn="ctr"/>
            <a:r>
              <a:rPr sz="1250">
                <a:solidFill>
                  <a:srgbClr val="243B53"/>
                </a:solidFill>
                <a:latin typeface="Arial"/>
                <a:ea typeface="Arial"/>
                <a:cs typeface="Arial"/>
              </a:rPr>
              <a:t>Choisir un axe prioritaire et une action adaptée au niveau de maîtrise.</a:t>
            </a:r>
          </a:p>
        </p:txBody>
      </p:sp>
      <p:sp>
        <p:nvSpPr>
          <p:cNvPr id="12" name="purpose-4">
            <a:extLst>
              <a:ext uri="{FF2B5EF4-FFF2-40B4-BE49-F238E27FC236}">
                <a16:creationId xmlns:a16="http://schemas.microsoft.com/office/drawing/2014/main" id="{A46A4EEA-BB8A-4A2C-B2FD-A18FCC2EE67C}"/>
              </a:ext>
            </a:extLst>
          </p:cNvPr>
          <p:cNvSpPr>
            <a:spLocks noGrp="1"/>
          </p:cNvSpPr>
          <p:nvPr/>
        </p:nvSpPr>
        <p:spPr>
          <a:xfrm>
            <a:off x="8705850" y="2265240"/>
            <a:ext cx="2333625" cy="2000250"/>
          </a:xfrm>
          <a:prstGeom prst="roundRect">
            <a:avLst>
              <a:gd name="adj" fmla="val 5714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Prouver</a:t>
            </a:r>
          </a:p>
          <a:p>
            <a:pPr algn="ctr"/>
            <a:r>
              <a:rPr sz="1250">
                <a:solidFill>
                  <a:srgbClr val="243B53"/>
                </a:solidFill>
                <a:latin typeface="Arial"/>
                <a:ea typeface="Arial"/>
                <a:cs typeface="Arial"/>
              </a:rPr>
              <a:t>Tracer l’engagement, l’échéance, l’indicateur et le contrôle.</a:t>
            </a:r>
          </a:p>
        </p:txBody>
      </p:sp>
      <p:sp>
        <p:nvSpPr>
          <p:cNvPr id="13" name="purpose-principles">
            <a:extLst>
              <a:ext uri="{FF2B5EF4-FFF2-40B4-BE49-F238E27FC236}">
                <a16:creationId xmlns:a16="http://schemas.microsoft.com/office/drawing/2014/main" id="{6BADA39E-FAA9-442F-9791-DD04E006136E}"/>
              </a:ext>
            </a:extLst>
          </p:cNvPr>
          <p:cNvSpPr>
            <a:spLocks noGrp="1"/>
          </p:cNvSpPr>
          <p:nvPr/>
        </p:nvSpPr>
        <p:spPr>
          <a:xfrm>
            <a:off x="819150" y="5045075"/>
            <a:ext cx="10220325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004F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Principes non négociables : faits vérifiables · écoute active · points forts d’abord · un axe prioritaire · objectif mesurable · trace partagée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noGrp="1"/>
          </p:cNvSpPr>
          <p:nvPr/>
        </p:nvSpPr>
        <p:spPr>
          <a:xfrm>
            <a:off x="800100" y="323850"/>
            <a:ext cx="9239250" cy="11430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4"/>
              </a:spcAft>
            </a:pPr>
            <a:r>
              <a:rPr sz="2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 parcours unique relie l’écoute, l’engagement et le contrôle</a:t>
            </a:r>
          </a:p>
          <a:p>
            <a:pPr algn="l"/>
            <a:r>
              <a:rPr sz="1250">
                <a:solidFill>
                  <a:srgbClr val="627D98"/>
                </a:solidFill>
                <a:latin typeface="Arial"/>
                <a:ea typeface="Arial"/>
                <a:cs typeface="Arial"/>
              </a:rPr>
              <a:t>Chaque étape produit un livrable simple afin d’éviter les débriefs informels sans suite.</a:t>
            </a:r>
          </a:p>
        </p:txBody>
      </p:sp>
      <p:sp>
        <p:nvSpPr>
          <p:cNvPr id="9" name="flow-arrow-1">
            <a:extLst>
              <a:ext uri="{FF2B5EF4-FFF2-40B4-BE49-F238E27FC236}">
                <a16:creationId xmlns:a16="http://schemas.microsoft.com/office/drawing/2014/main" id="{447C06A7-9CCA-4E24-A7F6-603509060E23}"/>
              </a:ext>
            </a:extLst>
          </p:cNvPr>
          <p:cNvSpPr>
            <a:spLocks noGrp="1"/>
          </p:cNvSpPr>
          <p:nvPr/>
        </p:nvSpPr>
        <p:spPr>
          <a:xfrm>
            <a:off x="3067050" y="2400300"/>
            <a:ext cx="381000" cy="32385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0" name="flow-arrow-2">
            <a:extLst>
              <a:ext uri="{FF2B5EF4-FFF2-40B4-BE49-F238E27FC236}">
                <a16:creationId xmlns:a16="http://schemas.microsoft.com/office/drawing/2014/main" id="{045656BD-CAE6-4C0E-B340-FDAA023C4AF9}"/>
              </a:ext>
            </a:extLst>
          </p:cNvPr>
          <p:cNvSpPr>
            <a:spLocks noGrp="1"/>
          </p:cNvSpPr>
          <p:nvPr/>
        </p:nvSpPr>
        <p:spPr>
          <a:xfrm>
            <a:off x="5705475" y="2400300"/>
            <a:ext cx="381000" cy="32385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1" name="flow-arrow-3">
            <a:extLst>
              <a:ext uri="{FF2B5EF4-FFF2-40B4-BE49-F238E27FC236}">
                <a16:creationId xmlns:a16="http://schemas.microsoft.com/office/drawing/2014/main" id="{34F183AC-4B0A-4DD8-9F15-59CE7E82FCF0}"/>
              </a:ext>
            </a:extLst>
          </p:cNvPr>
          <p:cNvSpPr>
            <a:spLocks noGrp="1"/>
          </p:cNvSpPr>
          <p:nvPr/>
        </p:nvSpPr>
        <p:spPr>
          <a:xfrm>
            <a:off x="8343900" y="2400300"/>
            <a:ext cx="381000" cy="32385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2" name="flow-arrow-4">
            <a:extLst>
              <a:ext uri="{FF2B5EF4-FFF2-40B4-BE49-F238E27FC236}">
                <a16:creationId xmlns:a16="http://schemas.microsoft.com/office/drawing/2014/main" id="{A9275E9F-23B2-49F3-BEC4-A55763A43A9A}"/>
              </a:ext>
            </a:extLst>
          </p:cNvPr>
          <p:cNvSpPr>
            <a:spLocks noGrp="1"/>
          </p:cNvSpPr>
          <p:nvPr/>
        </p:nvSpPr>
        <p:spPr>
          <a:xfrm>
            <a:off x="9810750" y="3352800"/>
            <a:ext cx="361950" cy="457200"/>
          </a:xfrm>
          <a:prstGeom prst="down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3" name="flow-arrow-5">
            <a:extLst>
              <a:ext uri="{FF2B5EF4-FFF2-40B4-BE49-F238E27FC236}">
                <a16:creationId xmlns:a16="http://schemas.microsoft.com/office/drawing/2014/main" id="{87608729-8225-408F-8A24-F99118981F11}"/>
              </a:ext>
            </a:extLst>
          </p:cNvPr>
          <p:cNvSpPr>
            <a:spLocks noGrp="1"/>
          </p:cNvSpPr>
          <p:nvPr/>
        </p:nvSpPr>
        <p:spPr>
          <a:xfrm>
            <a:off x="7400925" y="4352925"/>
            <a:ext cx="419100" cy="323850"/>
          </a:xfrm>
          <a:prstGeom prst="lef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4" name="flow-arrow-6">
            <a:extLst>
              <a:ext uri="{FF2B5EF4-FFF2-40B4-BE49-F238E27FC236}">
                <a16:creationId xmlns:a16="http://schemas.microsoft.com/office/drawing/2014/main" id="{311CA2E2-B8E9-4243-ACF1-BD6099128403}"/>
              </a:ext>
            </a:extLst>
          </p:cNvPr>
          <p:cNvSpPr>
            <a:spLocks noGrp="1"/>
          </p:cNvSpPr>
          <p:nvPr/>
        </p:nvSpPr>
        <p:spPr>
          <a:xfrm>
            <a:off x="4543425" y="4352925"/>
            <a:ext cx="419100" cy="323850"/>
          </a:xfrm>
          <a:prstGeom prst="lef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5" name="end-to-end-1">
            <a:extLst>
              <a:ext uri="{FF2B5EF4-FFF2-40B4-BE49-F238E27FC236}">
                <a16:creationId xmlns:a16="http://schemas.microsoft.com/office/drawing/2014/main" id="{A41AE486-D4CD-43F9-B078-2884E641618E}"/>
              </a:ext>
            </a:extLst>
          </p:cNvPr>
          <p:cNvSpPr>
            <a:spLocks noGrp="1"/>
          </p:cNvSpPr>
          <p:nvPr/>
        </p:nvSpPr>
        <p:spPr>
          <a:xfrm>
            <a:off x="838200" y="1857375"/>
            <a:ext cx="2143125" cy="1381125"/>
          </a:xfrm>
          <a:prstGeom prst="roundRect">
            <a:avLst>
              <a:gd name="adj" fmla="val 8276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Déclencher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Écart, récurrence, besoin de consolidation ou évolution attendue.</a:t>
            </a:r>
          </a:p>
        </p:txBody>
      </p:sp>
      <p:sp>
        <p:nvSpPr>
          <p:cNvPr id="16" name="step-number-1">
            <a:extLst>
              <a:ext uri="{FF2B5EF4-FFF2-40B4-BE49-F238E27FC236}">
                <a16:creationId xmlns:a16="http://schemas.microsoft.com/office/drawing/2014/main" id="{4CE56E66-5090-4CBD-97B4-6320559CF04D}"/>
              </a:ext>
            </a:extLst>
          </p:cNvPr>
          <p:cNvSpPr>
            <a:spLocks noGrp="1"/>
          </p:cNvSpPr>
          <p:nvPr/>
        </p:nvSpPr>
        <p:spPr>
          <a:xfrm>
            <a:off x="704850" y="1714500"/>
            <a:ext cx="400050" cy="400050"/>
          </a:xfrm>
          <a:prstGeom prst="ellipse">
            <a:avLst/>
          </a:prstGeom>
          <a:solidFill>
            <a:srgbClr val="D5004F"/>
          </a:solidFill>
          <a:ln w="0">
            <a:solidFill>
              <a:srgbClr val="D5004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end-to-end-2">
            <a:extLst>
              <a:ext uri="{FF2B5EF4-FFF2-40B4-BE49-F238E27FC236}">
                <a16:creationId xmlns:a16="http://schemas.microsoft.com/office/drawing/2014/main" id="{68D06242-1FC5-4054-B0F1-0F9C9415ECBA}"/>
              </a:ext>
            </a:extLst>
          </p:cNvPr>
          <p:cNvSpPr>
            <a:spLocks noGrp="1"/>
          </p:cNvSpPr>
          <p:nvPr/>
        </p:nvSpPr>
        <p:spPr>
          <a:xfrm>
            <a:off x="3476625" y="1857375"/>
            <a:ext cx="2143125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Préparer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Sélectionner les faits, appels, repères et messages essentiels.</a:t>
            </a:r>
          </a:p>
        </p:txBody>
      </p:sp>
      <p:sp>
        <p:nvSpPr>
          <p:cNvPr id="18" name="step-number-2">
            <a:extLst>
              <a:ext uri="{FF2B5EF4-FFF2-40B4-BE49-F238E27FC236}">
                <a16:creationId xmlns:a16="http://schemas.microsoft.com/office/drawing/2014/main" id="{23C7B945-AB89-472B-8367-694DE01C9DDD}"/>
              </a:ext>
            </a:extLst>
          </p:cNvPr>
          <p:cNvSpPr>
            <a:spLocks noGrp="1"/>
          </p:cNvSpPr>
          <p:nvPr/>
        </p:nvSpPr>
        <p:spPr>
          <a:xfrm>
            <a:off x="3343275" y="1714500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end-to-end-3">
            <a:extLst>
              <a:ext uri="{FF2B5EF4-FFF2-40B4-BE49-F238E27FC236}">
                <a16:creationId xmlns:a16="http://schemas.microsoft.com/office/drawing/2014/main" id="{F30A8B2E-562F-45F7-A94A-FC02B5567A7D}"/>
              </a:ext>
            </a:extLst>
          </p:cNvPr>
          <p:cNvSpPr>
            <a:spLocks noGrp="1"/>
          </p:cNvSpPr>
          <p:nvPr/>
        </p:nvSpPr>
        <p:spPr>
          <a:xfrm>
            <a:off x="6115050" y="1857375"/>
            <a:ext cx="2143125" cy="1381125"/>
          </a:xfrm>
          <a:prstGeom prst="roundRect">
            <a:avLst>
              <a:gd name="adj" fmla="val 8276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Ouvrir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Rappeler l’intention, le périmètre et les règles de l’échange.</a:t>
            </a:r>
          </a:p>
        </p:txBody>
      </p:sp>
      <p:sp>
        <p:nvSpPr>
          <p:cNvPr id="20" name="step-number-3">
            <a:extLst>
              <a:ext uri="{FF2B5EF4-FFF2-40B4-BE49-F238E27FC236}">
                <a16:creationId xmlns:a16="http://schemas.microsoft.com/office/drawing/2014/main" id="{3488EAEF-AA80-45B5-98B5-4CA17B911D94}"/>
              </a:ext>
            </a:extLst>
          </p:cNvPr>
          <p:cNvSpPr>
            <a:spLocks noGrp="1"/>
          </p:cNvSpPr>
          <p:nvPr/>
        </p:nvSpPr>
        <p:spPr>
          <a:xfrm>
            <a:off x="5981700" y="1714500"/>
            <a:ext cx="400050" cy="400050"/>
          </a:xfrm>
          <a:prstGeom prst="ellipse">
            <a:avLst/>
          </a:prstGeom>
          <a:solidFill>
            <a:srgbClr val="D5004F"/>
          </a:solidFill>
          <a:ln w="0">
            <a:solidFill>
              <a:srgbClr val="D5004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end-to-end-4">
            <a:extLst>
              <a:ext uri="{FF2B5EF4-FFF2-40B4-BE49-F238E27FC236}">
                <a16:creationId xmlns:a16="http://schemas.microsoft.com/office/drawing/2014/main" id="{A49A622B-A85B-40F4-9C3C-8DC7E89B59DC}"/>
              </a:ext>
            </a:extLst>
          </p:cNvPr>
          <p:cNvSpPr>
            <a:spLocks noGrp="1"/>
          </p:cNvSpPr>
          <p:nvPr/>
        </p:nvSpPr>
        <p:spPr>
          <a:xfrm>
            <a:off x="8753475" y="1857375"/>
            <a:ext cx="2143125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Écouter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Recueillir l’auto-évaluation et les explications du collaborateur.</a:t>
            </a:r>
          </a:p>
        </p:txBody>
      </p:sp>
      <p:sp>
        <p:nvSpPr>
          <p:cNvPr id="22" name="step-number-4">
            <a:extLst>
              <a:ext uri="{FF2B5EF4-FFF2-40B4-BE49-F238E27FC236}">
                <a16:creationId xmlns:a16="http://schemas.microsoft.com/office/drawing/2014/main" id="{13520E04-10AC-47D8-B4D5-27A6774BF79A}"/>
              </a:ext>
            </a:extLst>
          </p:cNvPr>
          <p:cNvSpPr>
            <a:spLocks noGrp="1"/>
          </p:cNvSpPr>
          <p:nvPr/>
        </p:nvSpPr>
        <p:spPr>
          <a:xfrm>
            <a:off x="8620125" y="1714500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end-to-end-5">
            <a:extLst>
              <a:ext uri="{FF2B5EF4-FFF2-40B4-BE49-F238E27FC236}">
                <a16:creationId xmlns:a16="http://schemas.microsoft.com/office/drawing/2014/main" id="{F08C7793-4F44-446E-9ED9-D269E2FF636F}"/>
              </a:ext>
            </a:extLst>
          </p:cNvPr>
          <p:cNvSpPr>
            <a:spLocks noGrp="1"/>
          </p:cNvSpPr>
          <p:nvPr/>
        </p:nvSpPr>
        <p:spPr>
          <a:xfrm>
            <a:off x="7858125" y="3810000"/>
            <a:ext cx="2143125" cy="1381125"/>
          </a:xfrm>
          <a:prstGeom prst="roundRect">
            <a:avLst>
              <a:gd name="adj" fmla="val 8276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Diagnostiquer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Reconnaître les acquis, qualifier l’écart et comprendre sa cause.</a:t>
            </a:r>
          </a:p>
        </p:txBody>
      </p:sp>
      <p:sp>
        <p:nvSpPr>
          <p:cNvPr id="24" name="step-number-5">
            <a:extLst>
              <a:ext uri="{FF2B5EF4-FFF2-40B4-BE49-F238E27FC236}">
                <a16:creationId xmlns:a16="http://schemas.microsoft.com/office/drawing/2014/main" id="{B809DC3F-8D94-4B9C-8582-FA77E49FE20D}"/>
              </a:ext>
            </a:extLst>
          </p:cNvPr>
          <p:cNvSpPr>
            <a:spLocks noGrp="1"/>
          </p:cNvSpPr>
          <p:nvPr/>
        </p:nvSpPr>
        <p:spPr>
          <a:xfrm>
            <a:off x="7724775" y="3667125"/>
            <a:ext cx="400050" cy="400050"/>
          </a:xfrm>
          <a:prstGeom prst="ellipse">
            <a:avLst/>
          </a:prstGeom>
          <a:solidFill>
            <a:srgbClr val="D5004F"/>
          </a:solidFill>
          <a:ln w="0">
            <a:solidFill>
              <a:srgbClr val="D5004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end-to-end-6">
            <a:extLst>
              <a:ext uri="{FF2B5EF4-FFF2-40B4-BE49-F238E27FC236}">
                <a16:creationId xmlns:a16="http://schemas.microsoft.com/office/drawing/2014/main" id="{BFBBC2E4-390F-4750-A5F0-5D61DC881377}"/>
              </a:ext>
            </a:extLst>
          </p:cNvPr>
          <p:cNvSpPr>
            <a:spLocks noGrp="1"/>
          </p:cNvSpPr>
          <p:nvPr/>
        </p:nvSpPr>
        <p:spPr>
          <a:xfrm>
            <a:off x="5000625" y="3810000"/>
            <a:ext cx="2143125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Co-construire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Définir l’action, l’indicateur, l’échéance et les moyens.</a:t>
            </a:r>
          </a:p>
        </p:txBody>
      </p:sp>
      <p:sp>
        <p:nvSpPr>
          <p:cNvPr id="26" name="step-number-6">
            <a:extLst>
              <a:ext uri="{FF2B5EF4-FFF2-40B4-BE49-F238E27FC236}">
                <a16:creationId xmlns:a16="http://schemas.microsoft.com/office/drawing/2014/main" id="{B943D959-4DEC-40EF-9634-7517D1C9E65A}"/>
              </a:ext>
            </a:extLst>
          </p:cNvPr>
          <p:cNvSpPr>
            <a:spLocks noGrp="1"/>
          </p:cNvSpPr>
          <p:nvPr/>
        </p:nvSpPr>
        <p:spPr>
          <a:xfrm>
            <a:off x="4867275" y="3667125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end-to-end-7">
            <a:extLst>
              <a:ext uri="{FF2B5EF4-FFF2-40B4-BE49-F238E27FC236}">
                <a16:creationId xmlns:a16="http://schemas.microsoft.com/office/drawing/2014/main" id="{011C91B2-04EA-4447-8E26-4D2E42CEADE6}"/>
              </a:ext>
            </a:extLst>
          </p:cNvPr>
          <p:cNvSpPr>
            <a:spLocks noGrp="1"/>
          </p:cNvSpPr>
          <p:nvPr/>
        </p:nvSpPr>
        <p:spPr>
          <a:xfrm>
            <a:off x="2143125" y="3810000"/>
            <a:ext cx="2143125" cy="1381125"/>
          </a:xfrm>
          <a:prstGeom prst="roundRect">
            <a:avLst>
              <a:gd name="adj" fmla="val 8276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Suivre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Contrôler l’application, mesurer le progrès et ajuster si nécessaire.</a:t>
            </a:r>
          </a:p>
        </p:txBody>
      </p:sp>
      <p:sp>
        <p:nvSpPr>
          <p:cNvPr id="28" name="step-number-7">
            <a:extLst>
              <a:ext uri="{FF2B5EF4-FFF2-40B4-BE49-F238E27FC236}">
                <a16:creationId xmlns:a16="http://schemas.microsoft.com/office/drawing/2014/main" id="{75F81E88-EC5D-4FD9-9131-DDAEC655CE06}"/>
              </a:ext>
            </a:extLst>
          </p:cNvPr>
          <p:cNvSpPr>
            <a:spLocks noGrp="1"/>
          </p:cNvSpPr>
          <p:nvPr/>
        </p:nvSpPr>
        <p:spPr>
          <a:xfrm>
            <a:off x="2009775" y="3667125"/>
            <a:ext cx="400050" cy="400050"/>
          </a:xfrm>
          <a:prstGeom prst="ellipse">
            <a:avLst/>
          </a:prstGeom>
          <a:solidFill>
            <a:srgbClr val="D5004F"/>
          </a:solidFill>
          <a:ln w="0">
            <a:solidFill>
              <a:srgbClr val="D5004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9" name="flow-output">
            <a:extLst>
              <a:ext uri="{FF2B5EF4-FFF2-40B4-BE49-F238E27FC236}">
                <a16:creationId xmlns:a16="http://schemas.microsoft.com/office/drawing/2014/main" id="{E5FD4001-BC35-42A2-B9E9-8735E062708B}"/>
              </a:ext>
            </a:extLst>
          </p:cNvPr>
          <p:cNvSpPr>
            <a:spLocks noGrp="1"/>
          </p:cNvSpPr>
          <p:nvPr/>
        </p:nvSpPr>
        <p:spPr>
          <a:xfrm>
            <a:off x="2143125" y="5429250"/>
            <a:ext cx="7858125" cy="457200"/>
          </a:xfrm>
          <a:prstGeom prst="roundRect">
            <a:avLst>
              <a:gd name="adj" fmla="val 16667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Sortie attendue : fiche de débrief complétée, engagement explicite et date de contrôle planifiée.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noGrp="1"/>
          </p:cNvSpPr>
          <p:nvPr/>
        </p:nvSpPr>
        <p:spPr>
          <a:xfrm>
            <a:off x="800100" y="323850"/>
            <a:ext cx="9239250" cy="11430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4"/>
              </a:spcAft>
            </a:pPr>
            <a:r>
              <a:rPr sz="2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 débrief efficace se prépare avant l’échange</a:t>
            </a:r>
          </a:p>
          <a:p>
            <a:pPr algn="l"/>
            <a:r>
              <a:rPr sz="1250">
                <a:solidFill>
                  <a:srgbClr val="627D98"/>
                </a:solidFill>
                <a:latin typeface="Arial"/>
                <a:ea typeface="Arial"/>
                <a:cs typeface="Arial"/>
              </a:rPr>
              <a:t>Le manager arrive avec des faits précis, une priorité et un objectif de conversation — pas avec un jugement global.</a:t>
            </a:r>
          </a:p>
        </p:txBody>
      </p:sp>
      <p:sp>
        <p:nvSpPr>
          <p:cNvPr id="9" name="prep-evidence">
            <a:extLst>
              <a:ext uri="{FF2B5EF4-FFF2-40B4-BE49-F238E27FC236}">
                <a16:creationId xmlns:a16="http://schemas.microsoft.com/office/drawing/2014/main" id="{A270B643-4B48-4C4E-8928-D00C81784D0D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3143250" cy="319087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52400" tIns="152400" rIns="152400" bIns="114300" anchor="t">
            <a:noAutofit/>
          </a:bodyPr>
          <a:lstStyle/>
          <a:p>
            <a:pPr algn="l">
              <a:spcAft>
                <a:spcPts val="9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 · Réunir les preuves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Grille d’évaluation et exigence concernée.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Échantillon d’appels représentatif.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Horodatages, verbatims et comportements observables.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Historique utile : progrès, récurrences et actions précédentes.</a:t>
            </a:r>
          </a:p>
        </p:txBody>
      </p:sp>
      <p:sp>
        <p:nvSpPr>
          <p:cNvPr id="10" name="prep-diagnosis">
            <a:extLst>
              <a:ext uri="{FF2B5EF4-FFF2-40B4-BE49-F238E27FC236}">
                <a16:creationId xmlns:a16="http://schemas.microsoft.com/office/drawing/2014/main" id="{7A6FA661-2BAB-47D8-95D1-ABB37F8B7751}"/>
              </a:ext>
            </a:extLst>
          </p:cNvPr>
          <p:cNvSpPr>
            <a:spLocks noGrp="1"/>
          </p:cNvSpPr>
          <p:nvPr/>
        </p:nvSpPr>
        <p:spPr>
          <a:xfrm>
            <a:off x="4343400" y="1809750"/>
            <a:ext cx="3143250" cy="3190875"/>
          </a:xfrm>
          <a:prstGeom prst="roundRect">
            <a:avLst>
              <a:gd name="adj" fmla="val 3636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52400" tIns="152400" rIns="152400" bIns="114300" anchor="t">
            <a:noAutofit/>
          </a:bodyPr>
          <a:lstStyle/>
          <a:p>
            <a:pPr algn="l">
              <a:spcAft>
                <a:spcPts val="9"/>
              </a:spcAft>
            </a:pPr>
            <a:r>
              <a:rPr sz="16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2 · Formuler le diagnostic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Séparer le fait de l’interprétation.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Identifier les points forts à consolider.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Choisir un seul axe prioritaire.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Relier l’écart à son impact client, conformité ou efficacité.</a:t>
            </a:r>
          </a:p>
        </p:txBody>
      </p:sp>
      <p:sp>
        <p:nvSpPr>
          <p:cNvPr id="11" name="prep-framing">
            <a:extLst>
              <a:ext uri="{FF2B5EF4-FFF2-40B4-BE49-F238E27FC236}">
                <a16:creationId xmlns:a16="http://schemas.microsoft.com/office/drawing/2014/main" id="{74EFBE19-C413-48D9-8944-1A28F284B440}"/>
              </a:ext>
            </a:extLst>
          </p:cNvPr>
          <p:cNvSpPr>
            <a:spLocks noGrp="1"/>
          </p:cNvSpPr>
          <p:nvPr/>
        </p:nvSpPr>
        <p:spPr>
          <a:xfrm>
            <a:off x="7867650" y="1809750"/>
            <a:ext cx="3143250" cy="3190875"/>
          </a:xfrm>
          <a:prstGeom prst="roundRect">
            <a:avLst>
              <a:gd name="adj" fmla="val 3636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52400" tIns="152400" rIns="152400" bIns="114300" anchor="t">
            <a:noAutofit/>
          </a:bodyPr>
          <a:lstStyle/>
          <a:p>
            <a:pPr algn="l">
              <a:spcAft>
                <a:spcPts val="9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· Cadrer l’entretien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Objectif et résultat attendu du débrief.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Durée, lieu et conditions favorisant la confidentialité.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Questions ouvertes à poser.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Ressources mobilisables et première échéance possible.</a:t>
            </a:r>
          </a:p>
        </p:txBody>
      </p:sp>
      <p:sp>
        <p:nvSpPr>
          <p:cNvPr id="12" name="prep-check">
            <a:extLst>
              <a:ext uri="{FF2B5EF4-FFF2-40B4-BE49-F238E27FC236}">
                <a16:creationId xmlns:a16="http://schemas.microsoft.com/office/drawing/2014/main" id="{7A2F746C-9CE7-4991-BDF4-3B5AD56E08F2}"/>
              </a:ext>
            </a:extLst>
          </p:cNvPr>
          <p:cNvSpPr>
            <a:spLocks noGrp="1"/>
          </p:cNvSpPr>
          <p:nvPr/>
        </p:nvSpPr>
        <p:spPr>
          <a:xfrm>
            <a:off x="819150" y="5286375"/>
            <a:ext cx="10191750" cy="590550"/>
          </a:xfrm>
          <a:prstGeom prst="roundRect">
            <a:avLst>
              <a:gd name="adj" fmla="val 12903"/>
            </a:avLst>
          </a:prstGeom>
          <a:solidFill>
            <a:srgbClr val="E8F5F0"/>
          </a:solidFill>
          <a:ln w="9525">
            <a:solidFill>
              <a:srgbClr val="2E7D65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13" b="1">
                <a:solidFill>
                  <a:srgbClr val="2E7D65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E7D65"/>
                </a:solidFill>
                <a:latin typeface="Arial"/>
                <a:ea typeface="Arial"/>
                <a:cs typeface="Arial"/>
              </a:rPr>
              <a:t>Contrôle avant rendez-vous : mes exemples sont vérifiables, ma priorité est claire et le collaborateur pourra contribuer à la solution.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noGrp="1"/>
          </p:cNvSpPr>
          <p:nvPr/>
        </p:nvSpPr>
        <p:spPr>
          <a:xfrm>
            <a:off x="800100" y="323850"/>
            <a:ext cx="9239250" cy="11430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4"/>
              </a:spcAft>
            </a:pPr>
            <a:r>
              <a:rPr sz="2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conversation suit une logique participative et exigeante</a:t>
            </a:r>
          </a:p>
          <a:p>
            <a:pPr algn="l"/>
            <a:r>
              <a:rPr sz="1250">
                <a:solidFill>
                  <a:srgbClr val="627D98"/>
                </a:solidFill>
                <a:latin typeface="Arial"/>
                <a:ea typeface="Arial"/>
                <a:cs typeface="Arial"/>
              </a:rPr>
              <a:t>Le manager guide le raisonnement ; le collaborateur verbalise, choisit et reformule son engagement.</a:t>
            </a:r>
          </a:p>
        </p:txBody>
      </p:sp>
      <p:sp>
        <p:nvSpPr>
          <p:cNvPr id="9" name="talk-arrow-1">
            <a:extLst>
              <a:ext uri="{FF2B5EF4-FFF2-40B4-BE49-F238E27FC236}">
                <a16:creationId xmlns:a16="http://schemas.microsoft.com/office/drawing/2014/main" id="{B24CB2C9-B374-4138-B967-BB83DF4E2134}"/>
              </a:ext>
            </a:extLst>
          </p:cNvPr>
          <p:cNvSpPr>
            <a:spLocks noGrp="1"/>
          </p:cNvSpPr>
          <p:nvPr/>
        </p:nvSpPr>
        <p:spPr>
          <a:xfrm>
            <a:off x="3743325" y="2400300"/>
            <a:ext cx="228600" cy="3048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0" name="talk-arrow-2">
            <a:extLst>
              <a:ext uri="{FF2B5EF4-FFF2-40B4-BE49-F238E27FC236}">
                <a16:creationId xmlns:a16="http://schemas.microsoft.com/office/drawing/2014/main" id="{66677691-CF23-40D6-B9F8-9D36541FC6F2}"/>
              </a:ext>
            </a:extLst>
          </p:cNvPr>
          <p:cNvSpPr>
            <a:spLocks noGrp="1"/>
          </p:cNvSpPr>
          <p:nvPr/>
        </p:nvSpPr>
        <p:spPr>
          <a:xfrm>
            <a:off x="7143750" y="2400300"/>
            <a:ext cx="381000" cy="3048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1" name="talk-arrow-3">
            <a:extLst>
              <a:ext uri="{FF2B5EF4-FFF2-40B4-BE49-F238E27FC236}">
                <a16:creationId xmlns:a16="http://schemas.microsoft.com/office/drawing/2014/main" id="{1E29A6A9-7444-4D06-997B-A3BB436659DD}"/>
              </a:ext>
            </a:extLst>
          </p:cNvPr>
          <p:cNvSpPr>
            <a:spLocks noGrp="1"/>
          </p:cNvSpPr>
          <p:nvPr/>
        </p:nvSpPr>
        <p:spPr>
          <a:xfrm>
            <a:off x="9886950" y="3257550"/>
            <a:ext cx="342900" cy="419100"/>
          </a:xfrm>
          <a:prstGeom prst="down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2" name="talk-arrow-4">
            <a:extLst>
              <a:ext uri="{FF2B5EF4-FFF2-40B4-BE49-F238E27FC236}">
                <a16:creationId xmlns:a16="http://schemas.microsoft.com/office/drawing/2014/main" id="{85DB4F2D-B168-4DB0-943A-148200DE6BF8}"/>
              </a:ext>
            </a:extLst>
          </p:cNvPr>
          <p:cNvSpPr>
            <a:spLocks noGrp="1"/>
          </p:cNvSpPr>
          <p:nvPr/>
        </p:nvSpPr>
        <p:spPr>
          <a:xfrm>
            <a:off x="7143750" y="4305300"/>
            <a:ext cx="381000" cy="304800"/>
          </a:xfrm>
          <a:prstGeom prst="lef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3" name="talk-arrow-5">
            <a:extLst>
              <a:ext uri="{FF2B5EF4-FFF2-40B4-BE49-F238E27FC236}">
                <a16:creationId xmlns:a16="http://schemas.microsoft.com/office/drawing/2014/main" id="{E99E07B6-F320-4B5F-A736-3B6CC9BE4C04}"/>
              </a:ext>
            </a:extLst>
          </p:cNvPr>
          <p:cNvSpPr>
            <a:spLocks noGrp="1"/>
          </p:cNvSpPr>
          <p:nvPr/>
        </p:nvSpPr>
        <p:spPr>
          <a:xfrm>
            <a:off x="3743325" y="4305300"/>
            <a:ext cx="228600" cy="304800"/>
          </a:xfrm>
          <a:prstGeom prst="lef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4" name="conversation-1">
            <a:extLst>
              <a:ext uri="{FF2B5EF4-FFF2-40B4-BE49-F238E27FC236}">
                <a16:creationId xmlns:a16="http://schemas.microsoft.com/office/drawing/2014/main" id="{5EA3B53C-D1F6-433B-A5B1-6D5C910C071D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Cadrer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« L’objectif est de comprendre et de progresser sur un point précis. »</a:t>
            </a:r>
          </a:p>
        </p:txBody>
      </p:sp>
      <p:sp>
        <p:nvSpPr>
          <p:cNvPr id="15" name="step-number-1">
            <a:extLst>
              <a:ext uri="{FF2B5EF4-FFF2-40B4-BE49-F238E27FC236}">
                <a16:creationId xmlns:a16="http://schemas.microsoft.com/office/drawing/2014/main" id="{1369A84D-4D80-45FA-8EA6-C183A288AA49}"/>
              </a:ext>
            </a:extLst>
          </p:cNvPr>
          <p:cNvSpPr>
            <a:spLocks noGrp="1"/>
          </p:cNvSpPr>
          <p:nvPr/>
        </p:nvSpPr>
        <p:spPr>
          <a:xfrm>
            <a:off x="733425" y="1724025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conversation-2">
            <a:extLst>
              <a:ext uri="{FF2B5EF4-FFF2-40B4-BE49-F238E27FC236}">
                <a16:creationId xmlns:a16="http://schemas.microsoft.com/office/drawing/2014/main" id="{81CCFFDF-E744-48FA-A5B5-2F95A2C843B4}"/>
              </a:ext>
            </a:extLst>
          </p:cNvPr>
          <p:cNvSpPr>
            <a:spLocks noGrp="1"/>
          </p:cNvSpPr>
          <p:nvPr/>
        </p:nvSpPr>
        <p:spPr>
          <a:xfrm>
            <a:off x="4000500" y="1857375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Auto-évaluer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« Comment analyses-tu cet appel ? Qu’as-tu bien réussi ? »</a:t>
            </a:r>
          </a:p>
        </p:txBody>
      </p:sp>
      <p:sp>
        <p:nvSpPr>
          <p:cNvPr id="17" name="step-number-2">
            <a:extLst>
              <a:ext uri="{FF2B5EF4-FFF2-40B4-BE49-F238E27FC236}">
                <a16:creationId xmlns:a16="http://schemas.microsoft.com/office/drawing/2014/main" id="{5ED59594-5D6A-4D83-91BA-FA872182A4F8}"/>
              </a:ext>
            </a:extLst>
          </p:cNvPr>
          <p:cNvSpPr>
            <a:spLocks noGrp="1"/>
          </p:cNvSpPr>
          <p:nvPr/>
        </p:nvSpPr>
        <p:spPr>
          <a:xfrm>
            <a:off x="3876675" y="1724025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conversation-3">
            <a:extLst>
              <a:ext uri="{FF2B5EF4-FFF2-40B4-BE49-F238E27FC236}">
                <a16:creationId xmlns:a16="http://schemas.microsoft.com/office/drawing/2014/main" id="{9C83B1D6-DC17-4878-B958-33D81C3B2E7D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Reconnaître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Nommer les points conformes et expliquer leur valeur.</a:t>
            </a:r>
          </a:p>
        </p:txBody>
      </p:sp>
      <p:sp>
        <p:nvSpPr>
          <p:cNvPr id="19" name="step-number-3">
            <a:extLst>
              <a:ext uri="{FF2B5EF4-FFF2-40B4-BE49-F238E27FC236}">
                <a16:creationId xmlns:a16="http://schemas.microsoft.com/office/drawing/2014/main" id="{E6427123-C189-4BEC-9151-35311EBC2E73}"/>
              </a:ext>
            </a:extLst>
          </p:cNvPr>
          <p:cNvSpPr>
            <a:spLocks noGrp="1"/>
          </p:cNvSpPr>
          <p:nvPr/>
        </p:nvSpPr>
        <p:spPr>
          <a:xfrm>
            <a:off x="7639050" y="1724025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conversation-4">
            <a:extLst>
              <a:ext uri="{FF2B5EF4-FFF2-40B4-BE49-F238E27FC236}">
                <a16:creationId xmlns:a16="http://schemas.microsoft.com/office/drawing/2014/main" id="{A4C5A79F-1072-416F-A901-BAC61BCD54DF}"/>
              </a:ext>
            </a:extLst>
          </p:cNvPr>
          <p:cNvSpPr>
            <a:spLocks noGrp="1"/>
          </p:cNvSpPr>
          <p:nvPr/>
        </p:nvSpPr>
        <p:spPr>
          <a:xfrm>
            <a:off x="7762875" y="3762375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Objectiver l’écart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Décrire le fait, la règle attendue et l’impact, sans étiqueter la personne.</a:t>
            </a:r>
          </a:p>
        </p:txBody>
      </p:sp>
      <p:sp>
        <p:nvSpPr>
          <p:cNvPr id="21" name="step-number-4">
            <a:extLst>
              <a:ext uri="{FF2B5EF4-FFF2-40B4-BE49-F238E27FC236}">
                <a16:creationId xmlns:a16="http://schemas.microsoft.com/office/drawing/2014/main" id="{235C60D0-4327-4881-8EFD-5F1CD62EE48C}"/>
              </a:ext>
            </a:extLst>
          </p:cNvPr>
          <p:cNvSpPr>
            <a:spLocks noGrp="1"/>
          </p:cNvSpPr>
          <p:nvPr/>
        </p:nvSpPr>
        <p:spPr>
          <a:xfrm>
            <a:off x="7639050" y="3629025"/>
            <a:ext cx="400050" cy="400050"/>
          </a:xfrm>
          <a:prstGeom prst="ellipse">
            <a:avLst/>
          </a:prstGeom>
          <a:solidFill>
            <a:srgbClr val="D5004F"/>
          </a:solidFill>
          <a:ln w="0">
            <a:solidFill>
              <a:srgbClr val="D5004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conversation-5">
            <a:extLst>
              <a:ext uri="{FF2B5EF4-FFF2-40B4-BE49-F238E27FC236}">
                <a16:creationId xmlns:a16="http://schemas.microsoft.com/office/drawing/2014/main" id="{3A4A4465-068D-439B-A52F-E88E5FB43FC3}"/>
              </a:ext>
            </a:extLst>
          </p:cNvPr>
          <p:cNvSpPr>
            <a:spLocks noGrp="1"/>
          </p:cNvSpPr>
          <p:nvPr/>
        </p:nvSpPr>
        <p:spPr>
          <a:xfrm>
            <a:off x="4000500" y="3762375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Explorer la cause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Questionner : compréhension, réflexe, outil, organisation ou confiance ?</a:t>
            </a:r>
          </a:p>
        </p:txBody>
      </p:sp>
      <p:sp>
        <p:nvSpPr>
          <p:cNvPr id="23" name="step-number-5">
            <a:extLst>
              <a:ext uri="{FF2B5EF4-FFF2-40B4-BE49-F238E27FC236}">
                <a16:creationId xmlns:a16="http://schemas.microsoft.com/office/drawing/2014/main" id="{49F38C9A-E2C3-43C2-BCB7-F408E9B15E42}"/>
              </a:ext>
            </a:extLst>
          </p:cNvPr>
          <p:cNvSpPr>
            <a:spLocks noGrp="1"/>
          </p:cNvSpPr>
          <p:nvPr/>
        </p:nvSpPr>
        <p:spPr>
          <a:xfrm>
            <a:off x="3876675" y="3629025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conversation-6">
            <a:extLst>
              <a:ext uri="{FF2B5EF4-FFF2-40B4-BE49-F238E27FC236}">
                <a16:creationId xmlns:a16="http://schemas.microsoft.com/office/drawing/2014/main" id="{6BE5797D-0354-43F3-9A84-8329363AF92B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285750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Conclure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Faire reformuler l’action, l’indicateur, l’échéance et l’aide attendue.</a:t>
            </a:r>
          </a:p>
        </p:txBody>
      </p:sp>
      <p:sp>
        <p:nvSpPr>
          <p:cNvPr id="25" name="step-number-6">
            <a:extLst>
              <a:ext uri="{FF2B5EF4-FFF2-40B4-BE49-F238E27FC236}">
                <a16:creationId xmlns:a16="http://schemas.microsoft.com/office/drawing/2014/main" id="{E3F48B0B-B442-45FC-B602-6ACF8EA8F52B}"/>
              </a:ext>
            </a:extLst>
          </p:cNvPr>
          <p:cNvSpPr>
            <a:spLocks noGrp="1"/>
          </p:cNvSpPr>
          <p:nvPr/>
        </p:nvSpPr>
        <p:spPr>
          <a:xfrm>
            <a:off x="733425" y="3629025"/>
            <a:ext cx="400050" cy="400050"/>
          </a:xfrm>
          <a:prstGeom prst="ellipse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conversation-rule">
            <a:extLst>
              <a:ext uri="{FF2B5EF4-FFF2-40B4-BE49-F238E27FC236}">
                <a16:creationId xmlns:a16="http://schemas.microsoft.com/office/drawing/2014/main" id="{4D4F9C64-C3EA-4C14-ACE8-35F91E964199}"/>
              </a:ext>
            </a:extLst>
          </p:cNvPr>
          <p:cNvSpPr>
            <a:spLocks noGrp="1"/>
          </p:cNvSpPr>
          <p:nvPr/>
        </p:nvSpPr>
        <p:spPr>
          <a:xfrm>
            <a:off x="1238250" y="5448300"/>
            <a:ext cx="9334500" cy="457200"/>
          </a:xfrm>
          <a:prstGeom prst="roundRect">
            <a:avLst>
              <a:gd name="adj" fmla="val 16667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275" b="1">
                <a:solidFill>
                  <a:srgbClr val="D500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À éviter : monologue du manager · accumulation de reproches · objectifs vagues · absence de date de contrôle.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noGrp="1"/>
          </p:cNvSpPr>
          <p:nvPr/>
        </p:nvSpPr>
        <p:spPr>
          <a:xfrm>
            <a:off x="800100" y="323850"/>
            <a:ext cx="9239250" cy="11430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4"/>
              </a:spcAft>
            </a:pPr>
            <a:r>
              <a:rPr sz="2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Trois acteurs garantissent la qualité et la continuité du débrief</a:t>
            </a:r>
          </a:p>
          <a:p>
            <a:pPr algn="l"/>
            <a:r>
              <a:rPr sz="1250">
                <a:solidFill>
                  <a:srgbClr val="627D98"/>
                </a:solidFill>
                <a:latin typeface="Arial"/>
                <a:ea typeface="Arial"/>
                <a:cs typeface="Arial"/>
              </a:rPr>
              <a:t>La responsabilité managériale reste centrale ; la Conformité / Qualité fournit le cadre, la cohérence et la vision consolidée.</a:t>
            </a:r>
          </a:p>
        </p:txBody>
      </p:sp>
      <p:sp>
        <p:nvSpPr>
          <p:cNvPr id="9" name="role-arrow-1">
            <a:extLst>
              <a:ext uri="{FF2B5EF4-FFF2-40B4-BE49-F238E27FC236}">
                <a16:creationId xmlns:a16="http://schemas.microsoft.com/office/drawing/2014/main" id="{206893ED-037A-4DDA-B0F1-EECB21DD7653}"/>
              </a:ext>
            </a:extLst>
          </p:cNvPr>
          <p:cNvSpPr>
            <a:spLocks noGrp="1"/>
          </p:cNvSpPr>
          <p:nvPr/>
        </p:nvSpPr>
        <p:spPr>
          <a:xfrm>
            <a:off x="3857625" y="3286125"/>
            <a:ext cx="476250" cy="3810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0" name="role-arrow-2">
            <a:extLst>
              <a:ext uri="{FF2B5EF4-FFF2-40B4-BE49-F238E27FC236}">
                <a16:creationId xmlns:a16="http://schemas.microsoft.com/office/drawing/2014/main" id="{DE17CD41-C285-4783-830F-0D7413537564}"/>
              </a:ext>
            </a:extLst>
          </p:cNvPr>
          <p:cNvSpPr>
            <a:spLocks noGrp="1"/>
          </p:cNvSpPr>
          <p:nvPr/>
        </p:nvSpPr>
        <p:spPr>
          <a:xfrm>
            <a:off x="7429500" y="3286125"/>
            <a:ext cx="476250" cy="3810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1" name="role-manager">
            <a:extLst>
              <a:ext uri="{FF2B5EF4-FFF2-40B4-BE49-F238E27FC236}">
                <a16:creationId xmlns:a16="http://schemas.microsoft.com/office/drawing/2014/main" id="{284B584F-D6C8-4220-8F32-E164C77F74F9}"/>
              </a:ext>
            </a:extLst>
          </p:cNvPr>
          <p:cNvSpPr>
            <a:spLocks noGrp="1"/>
          </p:cNvSpPr>
          <p:nvPr/>
        </p:nvSpPr>
        <p:spPr>
          <a:xfrm>
            <a:off x="819150" y="1857375"/>
            <a:ext cx="3048000" cy="3381375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52400" tIns="152400" rIns="152400" bIns="114300" anchor="t">
            <a:noAutofit/>
          </a:bodyPr>
          <a:lstStyle/>
          <a:p>
            <a:pPr algn="l">
              <a:spcAft>
                <a:spcPts val="9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Manager — pilote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Prépare les faits et choisit la priorité.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Conduit l’échange et garantit un climat constructif.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Co-construit l’action et alloue les moyens.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Planifie, réalise et trace le contrôle.</a:t>
            </a:r>
          </a:p>
        </p:txBody>
      </p:sp>
      <p:sp>
        <p:nvSpPr>
          <p:cNvPr id="12" name="role-employee">
            <a:extLst>
              <a:ext uri="{FF2B5EF4-FFF2-40B4-BE49-F238E27FC236}">
                <a16:creationId xmlns:a16="http://schemas.microsoft.com/office/drawing/2014/main" id="{B4667E24-0823-4712-BDA0-14F11C127AE4}"/>
              </a:ext>
            </a:extLst>
          </p:cNvPr>
          <p:cNvSpPr>
            <a:spLocks noGrp="1"/>
          </p:cNvSpPr>
          <p:nvPr/>
        </p:nvSpPr>
        <p:spPr>
          <a:xfrm>
            <a:off x="4343400" y="1857375"/>
            <a:ext cx="3048000" cy="3381375"/>
          </a:xfrm>
          <a:prstGeom prst="roundRect">
            <a:avLst>
              <a:gd name="adj" fmla="val 375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52400" tIns="152400" rIns="152400" bIns="114300" anchor="t">
            <a:noAutofit/>
          </a:bodyPr>
          <a:lstStyle/>
          <a:p>
            <a:pPr algn="l">
              <a:spcAft>
                <a:spcPts val="9"/>
              </a:spcAft>
            </a:pPr>
            <a:r>
              <a:rPr sz="16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Collaborateur — acteur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S’auto-évalue et partage son raisonnement.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Clarifie ses difficultés et ses besoins.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Propose ou choisit une action réalisable.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Met en pratique, documente et demande de l’aide si nécessaire.</a:t>
            </a:r>
          </a:p>
        </p:txBody>
      </p:sp>
      <p:sp>
        <p:nvSpPr>
          <p:cNvPr id="13" name="role-compliance">
            <a:extLst>
              <a:ext uri="{FF2B5EF4-FFF2-40B4-BE49-F238E27FC236}">
                <a16:creationId xmlns:a16="http://schemas.microsoft.com/office/drawing/2014/main" id="{2082930F-607A-4F9D-8D47-A0D3BFE6D473}"/>
              </a:ext>
            </a:extLst>
          </p:cNvPr>
          <p:cNvSpPr>
            <a:spLocks noGrp="1"/>
          </p:cNvSpPr>
          <p:nvPr/>
        </p:nvSpPr>
        <p:spPr>
          <a:xfrm>
            <a:off x="7867650" y="1857375"/>
            <a:ext cx="3143250" cy="3381375"/>
          </a:xfrm>
          <a:prstGeom prst="roundRect">
            <a:avLst>
              <a:gd name="adj" fmla="val 3636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52400" tIns="152400" rIns="152400" bIns="114300" anchor="t">
            <a:noAutofit/>
          </a:bodyPr>
          <a:lstStyle/>
          <a:p>
            <a:pPr algn="l">
              <a:spcAft>
                <a:spcPts val="9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Conformité / Qualité — garante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Définit la grille, les règles et la traçabilité minimale.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Calibre les évaluateurs et sécurise la cohérence.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Analyse les récurrences et risques transverses.</a:t>
            </a:r>
          </a:p>
          <a:p>
            <a:pPr marL="18" indent="-10" algn="l">
              <a:spcAft>
                <a:spcPts val="5"/>
              </a:spcAft>
              <a:buChar char="•"/>
            </a:pP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Propose des actions collectives et rend compte au pilotage.</a:t>
            </a:r>
          </a:p>
        </p:txBody>
      </p:sp>
      <p:sp>
        <p:nvSpPr>
          <p:cNvPr id="14" name="roles-handoff">
            <a:extLst>
              <a:ext uri="{FF2B5EF4-FFF2-40B4-BE49-F238E27FC236}">
                <a16:creationId xmlns:a16="http://schemas.microsoft.com/office/drawing/2014/main" id="{2A4FBC41-0498-43B6-8568-8933E9545FB7}"/>
              </a:ext>
            </a:extLst>
          </p:cNvPr>
          <p:cNvSpPr>
            <a:spLocks noGrp="1"/>
          </p:cNvSpPr>
          <p:nvPr/>
        </p:nvSpPr>
        <p:spPr>
          <a:xfrm>
            <a:off x="1619250" y="5495925"/>
            <a:ext cx="8572500" cy="419100"/>
          </a:xfrm>
          <a:prstGeom prst="roundRect">
            <a:avLst>
              <a:gd name="adj" fmla="val 18182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Règle de gouvernance : un responsable, une échéance et une preuve attendue pour chaque action.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A425DB1-36A5-4818-B3F0-BB74A225ACD0}"/>
              </a:ext>
            </a:extLst>
          </p:cNvPr>
          <p:cNvSpPr>
            <a:spLocks noGrp="1"/>
          </p:cNvSpPr>
          <p:nvPr/>
        </p:nvSpPr>
        <p:spPr>
          <a:xfrm>
            <a:off x="800100" y="323850"/>
            <a:ext cx="10001250" cy="762000"/>
          </a:xfrm>
          <a:prstGeom prst="rect">
            <a:avLst/>
          </a:prstGeom>
          <a:noFill/>
          <a:ln w="0">
            <a:noFill/>
            <a:prstDash val="solid"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egoe UI Light"/>
                <a:ea typeface="Segoe UI Light"/>
                <a:cs typeface="Segoe UI Light"/>
              </a:defRPr>
            </a:lvl1pPr>
            <a:lvl2pPr marL="0" marR="0" indent="1143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2pPr>
            <a:lvl3pPr marL="0" marR="0" indent="2286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3pPr>
            <a:lvl4pPr marL="0" marR="0" indent="3429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4pPr>
            <a:lvl5pPr marL="0" marR="0" indent="4572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5pPr>
            <a:lvl6pPr marL="0" marR="0" indent="5715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0" marR="0" indent="6858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0" marR="0" indent="8001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0" marR="0" indent="9144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buNone/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ln w="0">
                  <a:noFill/>
                  <a:prstDash val="solid"/>
                </a:ln>
                <a:solidFill>
                  <a:srgbClr val="102A43"/>
                </a:solidFill>
                <a:latin typeface="Arial"/>
                <a:ea typeface="Arial"/>
                <a:cs typeface="Arial"/>
              </a:rPr>
              <a:t>Le plan d’action traduit le diagnostic en comportement vérifiable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E72E4D7-A31F-45E1-8BE2-506771CCB547}"/>
              </a:ext>
            </a:extLst>
          </p:cNvPr>
          <p:cNvSpPr>
            <a:spLocks noGrp="1"/>
          </p:cNvSpPr>
          <p:nvPr/>
        </p:nvSpPr>
        <p:spPr>
          <a:xfrm>
            <a:off x="800100" y="1095375"/>
            <a:ext cx="10382250" cy="6858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2"/>
              </a:spcAft>
              <a:buNone/>
              <a:defRPr sz="1500" b="0">
                <a:ln w="0">
                  <a:noFill/>
                  <a:prstDash val="solid"/>
                </a:ln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Une seule priorité par cycle, formulée avec un fait de départ, un objectif, une action, une mesure, une date et un contrôle.</a:t>
            </a:r>
          </a:p>
        </p:txBody>
      </p:sp>
      <p:sp>
        <p:nvSpPr>
          <p:cNvPr id="6" name="action-arrow-1">
            <a:extLst>
              <a:ext uri="{FF2B5EF4-FFF2-40B4-BE49-F238E27FC236}">
                <a16:creationId xmlns:a16="http://schemas.microsoft.com/office/drawing/2014/main" id="{3896504A-7259-4D95-8F62-B829B3563B25}"/>
              </a:ext>
            </a:extLst>
          </p:cNvPr>
          <p:cNvSpPr>
            <a:spLocks noGrp="1"/>
          </p:cNvSpPr>
          <p:nvPr/>
        </p:nvSpPr>
        <p:spPr>
          <a:xfrm>
            <a:off x="2324100" y="2333625"/>
            <a:ext cx="266700" cy="2667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7" name="action-arrow-2">
            <a:extLst>
              <a:ext uri="{FF2B5EF4-FFF2-40B4-BE49-F238E27FC236}">
                <a16:creationId xmlns:a16="http://schemas.microsoft.com/office/drawing/2014/main" id="{250EDD34-C265-4726-A972-BAF11DE58035}"/>
              </a:ext>
            </a:extLst>
          </p:cNvPr>
          <p:cNvSpPr>
            <a:spLocks noGrp="1"/>
          </p:cNvSpPr>
          <p:nvPr/>
        </p:nvSpPr>
        <p:spPr>
          <a:xfrm>
            <a:off x="4067175" y="2333625"/>
            <a:ext cx="266700" cy="2667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8" name="action-arrow-3">
            <a:extLst>
              <a:ext uri="{FF2B5EF4-FFF2-40B4-BE49-F238E27FC236}">
                <a16:creationId xmlns:a16="http://schemas.microsoft.com/office/drawing/2014/main" id="{C644A80D-2855-4FCE-9AA4-BF369FE9ECE6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266700" cy="2667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9" name="action-arrow-4">
            <a:extLst>
              <a:ext uri="{FF2B5EF4-FFF2-40B4-BE49-F238E27FC236}">
                <a16:creationId xmlns:a16="http://schemas.microsoft.com/office/drawing/2014/main" id="{86C7295A-1EEF-48B3-8651-DA2CB8402595}"/>
              </a:ext>
            </a:extLst>
          </p:cNvPr>
          <p:cNvSpPr>
            <a:spLocks noGrp="1"/>
          </p:cNvSpPr>
          <p:nvPr/>
        </p:nvSpPr>
        <p:spPr>
          <a:xfrm>
            <a:off x="7553325" y="2333625"/>
            <a:ext cx="266700" cy="2667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0" name="action-arrow-5">
            <a:extLst>
              <a:ext uri="{FF2B5EF4-FFF2-40B4-BE49-F238E27FC236}">
                <a16:creationId xmlns:a16="http://schemas.microsoft.com/office/drawing/2014/main" id="{862A5457-B90B-4D58-B6C4-F37588AF61CF}"/>
              </a:ext>
            </a:extLst>
          </p:cNvPr>
          <p:cNvSpPr>
            <a:spLocks noGrp="1"/>
          </p:cNvSpPr>
          <p:nvPr/>
        </p:nvSpPr>
        <p:spPr>
          <a:xfrm>
            <a:off x="9296400" y="2333625"/>
            <a:ext cx="266700" cy="2667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1" name="action-chain-1">
            <a:extLst>
              <a:ext uri="{FF2B5EF4-FFF2-40B4-BE49-F238E27FC236}">
                <a16:creationId xmlns:a16="http://schemas.microsoft.com/office/drawing/2014/main" id="{BE1A4F14-09B5-40AB-8214-AE535F46E12A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3"/>
              </a:spcAft>
            </a:pPr>
            <a:r>
              <a:rPr sz="13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Constat</a:t>
            </a:r>
          </a:p>
          <a:p>
            <a:pPr algn="ctr"/>
            <a:r>
              <a:rPr sz="950">
                <a:solidFill>
                  <a:srgbClr val="243B53"/>
                </a:solidFill>
                <a:latin typeface="Arial"/>
                <a:ea typeface="Arial"/>
                <a:cs typeface="Arial"/>
              </a:rPr>
              <a:t>Fait précis et observable</a:t>
            </a:r>
          </a:p>
        </p:txBody>
      </p:sp>
      <p:sp>
        <p:nvSpPr>
          <p:cNvPr id="12" name="action-chain-2">
            <a:extLst>
              <a:ext uri="{FF2B5EF4-FFF2-40B4-BE49-F238E27FC236}">
                <a16:creationId xmlns:a16="http://schemas.microsoft.com/office/drawing/2014/main" id="{01B7FCA0-49B3-46DF-9759-2F403E0A6D3D}"/>
              </a:ext>
            </a:extLst>
          </p:cNvPr>
          <p:cNvSpPr>
            <a:spLocks noGrp="1"/>
          </p:cNvSpPr>
          <p:nvPr/>
        </p:nvSpPr>
        <p:spPr>
          <a:xfrm>
            <a:off x="2543175" y="2047875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3"/>
              </a:spcAft>
            </a:pPr>
            <a:r>
              <a:rPr sz="1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Objectif</a:t>
            </a:r>
          </a:p>
          <a:p>
            <a:pPr algn="ctr"/>
            <a:r>
              <a:rPr sz="950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Comportement attendu</a:t>
            </a:r>
          </a:p>
        </p:txBody>
      </p:sp>
      <p:sp>
        <p:nvSpPr>
          <p:cNvPr id="13" name="action-chain-3">
            <a:extLst>
              <a:ext uri="{FF2B5EF4-FFF2-40B4-BE49-F238E27FC236}">
                <a16:creationId xmlns:a16="http://schemas.microsoft.com/office/drawing/2014/main" id="{DD672055-1BA6-4CC7-A502-46EE2ADACD8C}"/>
              </a:ext>
            </a:extLst>
          </p:cNvPr>
          <p:cNvSpPr>
            <a:spLocks noGrp="1"/>
          </p:cNvSpPr>
          <p:nvPr/>
        </p:nvSpPr>
        <p:spPr>
          <a:xfrm>
            <a:off x="4286250" y="2047875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3"/>
              </a:spcAft>
            </a:pPr>
            <a:r>
              <a:rPr sz="13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/>
            <a:r>
              <a:rPr sz="950">
                <a:solidFill>
                  <a:srgbClr val="243B53"/>
                </a:solidFill>
                <a:latin typeface="Arial"/>
                <a:ea typeface="Arial"/>
                <a:cs typeface="Arial"/>
              </a:rPr>
              <a:t>Mise en pratique concrète</a:t>
            </a:r>
          </a:p>
        </p:txBody>
      </p:sp>
      <p:sp>
        <p:nvSpPr>
          <p:cNvPr id="14" name="action-chain-4">
            <a:extLst>
              <a:ext uri="{FF2B5EF4-FFF2-40B4-BE49-F238E27FC236}">
                <a16:creationId xmlns:a16="http://schemas.microsoft.com/office/drawing/2014/main" id="{F52C8F39-9B17-4CFE-9266-282728BE8FB6}"/>
              </a:ext>
            </a:extLst>
          </p:cNvPr>
          <p:cNvSpPr>
            <a:spLocks noGrp="1"/>
          </p:cNvSpPr>
          <p:nvPr/>
        </p:nvSpPr>
        <p:spPr>
          <a:xfrm>
            <a:off x="6029325" y="2047875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3"/>
              </a:spcAft>
            </a:pPr>
            <a:r>
              <a:rPr sz="1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Indicateur</a:t>
            </a:r>
          </a:p>
          <a:p>
            <a:pPr algn="ctr"/>
            <a:r>
              <a:rPr sz="950">
                <a:solidFill>
                  <a:srgbClr val="243B53"/>
                </a:solidFill>
                <a:latin typeface="Arial"/>
                <a:ea typeface="Arial"/>
                <a:cs typeface="Arial"/>
              </a:rPr>
              <a:t>Seuil + source de mesure</a:t>
            </a:r>
          </a:p>
        </p:txBody>
      </p:sp>
      <p:sp>
        <p:nvSpPr>
          <p:cNvPr id="15" name="action-chain-5">
            <a:extLst>
              <a:ext uri="{FF2B5EF4-FFF2-40B4-BE49-F238E27FC236}">
                <a16:creationId xmlns:a16="http://schemas.microsoft.com/office/drawing/2014/main" id="{8389A9B0-D0B1-4765-BFE2-E78A76A41504}"/>
              </a:ext>
            </a:extLst>
          </p:cNvPr>
          <p:cNvSpPr>
            <a:spLocks noGrp="1"/>
          </p:cNvSpPr>
          <p:nvPr/>
        </p:nvSpPr>
        <p:spPr>
          <a:xfrm>
            <a:off x="7772400" y="2047875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3"/>
              </a:spcAft>
            </a:pPr>
            <a:r>
              <a:rPr sz="13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Échéance</a:t>
            </a:r>
          </a:p>
          <a:p>
            <a:pPr algn="ctr"/>
            <a:r>
              <a:rPr sz="95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Date ou période définie</a:t>
            </a:r>
          </a:p>
        </p:txBody>
      </p:sp>
      <p:sp>
        <p:nvSpPr>
          <p:cNvPr id="16" name="action-chain-6">
            <a:extLst>
              <a:ext uri="{FF2B5EF4-FFF2-40B4-BE49-F238E27FC236}">
                <a16:creationId xmlns:a16="http://schemas.microsoft.com/office/drawing/2014/main" id="{F8F89B48-0F8C-4376-AD96-1CA7A569A1C1}"/>
              </a:ext>
            </a:extLst>
          </p:cNvPr>
          <p:cNvSpPr>
            <a:spLocks noGrp="1"/>
          </p:cNvSpPr>
          <p:nvPr/>
        </p:nvSpPr>
        <p:spPr>
          <a:xfrm>
            <a:off x="9515475" y="2047875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3"/>
              </a:spcAft>
            </a:pPr>
            <a:r>
              <a:rPr sz="1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Suivi</a:t>
            </a:r>
          </a:p>
          <a:p>
            <a:pPr algn="ctr"/>
            <a:r>
              <a:rPr sz="95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Contrôle et décision</a:t>
            </a:r>
          </a:p>
        </p:txBody>
      </p:sp>
      <p:sp>
        <p:nvSpPr>
          <p:cNvPr id="17" name="action-example">
            <a:extLst>
              <a:ext uri="{FF2B5EF4-FFF2-40B4-BE49-F238E27FC236}">
                <a16:creationId xmlns:a16="http://schemas.microsoft.com/office/drawing/2014/main" id="{E35B66AC-1C8C-4D46-9BC8-47A5E0F5D7EB}"/>
              </a:ext>
            </a:extLst>
          </p:cNvPr>
          <p:cNvSpPr>
            <a:spLocks noGrp="1"/>
          </p:cNvSpPr>
          <p:nvPr/>
        </p:nvSpPr>
        <p:spPr>
          <a:xfrm>
            <a:off x="800100" y="3190875"/>
            <a:ext cx="103822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90500" tIns="142875" rIns="190500" bIns="142875" anchor="ctr">
            <a:noAutofit/>
          </a:bodyPr>
          <a:lstStyle/>
          <a:p>
            <a:pPr algn="l">
              <a:spcAft>
                <a:spcPts val="8"/>
              </a:spcAft>
            </a:pPr>
            <a:r>
              <a:rPr sz="16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Exemple de formulation complète</a:t>
            </a:r>
          </a:p>
          <a:p>
            <a:pPr algn="l">
              <a:spcAft>
                <a:spcPts val="5"/>
              </a:spcAft>
            </a:pPr>
            <a:r>
              <a:rPr sz="1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Constat : </a:t>
            </a: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sur 3 appels sur 5, la réponse est donnée avant la reformulation du besoin.</a:t>
            </a:r>
          </a:p>
          <a:p>
            <a:pPr algn="l">
              <a:spcAft>
                <a:spcPts val="5"/>
              </a:spcAft>
            </a:pPr>
            <a:r>
              <a:rPr sz="1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Objectif : </a:t>
            </a: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reformuler le besoin avant toute proposition sur au moins 4 appels sur 5.</a:t>
            </a:r>
          </a:p>
          <a:p>
            <a:pPr algn="l">
              <a:spcAft>
                <a:spcPts val="5"/>
              </a:spcAft>
            </a:pPr>
            <a:r>
              <a:rPr sz="1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Action : </a:t>
            </a: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reprendre la trame, réaliser deux simulations puis une double écoute avec le manager.</a:t>
            </a:r>
          </a:p>
          <a:p>
            <a:pPr algn="l">
              <a:spcAft>
                <a:spcPts val="5"/>
              </a:spcAft>
            </a:pPr>
            <a:r>
              <a:rPr sz="1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Indicateur : </a:t>
            </a: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reformulation conforme sur ≥ 4/5 appels et aucune interruption injustifiée.</a:t>
            </a:r>
          </a:p>
          <a:p>
            <a:pPr algn="l"/>
            <a:r>
              <a:rPr sz="1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Échéance / suivi : </a:t>
            </a:r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mise en pratique pendant 2 semaines, puis contrôle sur un nouvel échantillon de 5 appels.</a:t>
            </a:r>
          </a:p>
        </p:txBody>
      </p:sp>
    </p:spTree>
    <p:extLst>
      <p:ext uri="{BB962C8B-B14F-4D97-AF65-F5344CB8AC3E}">
        <p14:creationId xmlns:p14="http://schemas.microsoft.com/office/powerpoint/2010/main" val="289605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égende : flèche vers le haut 1">
            <a:extLst>
              <a:ext uri="{FF2B5EF4-FFF2-40B4-BE49-F238E27FC236}">
                <a16:creationId xmlns:a16="http://schemas.microsoft.com/office/drawing/2014/main" id="{59997B09-433F-4C49-A152-0F264AE48E8B}"/>
              </a:ext>
            </a:extLst>
          </p:cNvPr>
          <p:cNvSpPr/>
          <p:nvPr/>
        </p:nvSpPr>
        <p:spPr>
          <a:xfrm>
            <a:off x="685801" y="4452326"/>
            <a:ext cx="1905000" cy="1792166"/>
          </a:xfrm>
          <a:prstGeom prst="upArrowCallout">
            <a:avLst>
              <a:gd name="adj1" fmla="val 17543"/>
              <a:gd name="adj2" fmla="val 21359"/>
              <a:gd name="adj3" fmla="val 22461"/>
              <a:gd name="adj4" fmla="val 64977"/>
            </a:avLst>
          </a:prstGeom>
          <a:noFill/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/>
            <a:r>
              <a:rPr lang="fr-FR" sz="6000" b="1" dirty="0">
                <a:ln>
                  <a:solidFill>
                    <a:srgbClr val="FFC000"/>
                  </a:solidFill>
                </a:ln>
                <a:solidFill>
                  <a:srgbClr val="D5004F"/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D24B1B2-045B-4C2D-AF1D-41F08E9BB2E6}"/>
              </a:ext>
            </a:extLst>
          </p:cNvPr>
          <p:cNvSpPr>
            <a:spLocks noGrp="1"/>
          </p:cNvSpPr>
          <p:nvPr/>
        </p:nvSpPr>
        <p:spPr>
          <a:xfrm>
            <a:off x="685800" y="2067706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D5004F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Spécifique</a:t>
            </a:r>
            <a:endParaRPr sz="15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A388489-9B1D-48E5-9748-F8FEBAD77835}"/>
              </a:ext>
            </a:extLst>
          </p:cNvPr>
          <p:cNvSpPr>
            <a:spLocks noGrp="1"/>
          </p:cNvSpPr>
          <p:nvPr/>
        </p:nvSpPr>
        <p:spPr>
          <a:xfrm>
            <a:off x="2781300" y="2067706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102A43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Mesurable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EBFCCDB-DB9D-47E4-B644-32DE741CFB45}"/>
              </a:ext>
            </a:extLst>
          </p:cNvPr>
          <p:cNvSpPr>
            <a:spLocks noGrp="1"/>
          </p:cNvSpPr>
          <p:nvPr/>
        </p:nvSpPr>
        <p:spPr>
          <a:xfrm>
            <a:off x="4876800" y="2067706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D5004F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Atteignable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2EF51DA-1A86-41FA-9FBE-6C20FB48C3EE}"/>
              </a:ext>
            </a:extLst>
          </p:cNvPr>
          <p:cNvSpPr>
            <a:spLocks noGrp="1"/>
          </p:cNvSpPr>
          <p:nvPr/>
        </p:nvSpPr>
        <p:spPr>
          <a:xfrm>
            <a:off x="6972300" y="2067706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102A43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fr-FR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Réaliste</a:t>
            </a:r>
            <a:endParaRPr sz="15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C15B3EC-A9C0-40F6-B322-C8C19755DB13}"/>
              </a:ext>
            </a:extLst>
          </p:cNvPr>
          <p:cNvSpPr>
            <a:spLocks noGrp="1"/>
          </p:cNvSpPr>
          <p:nvPr/>
        </p:nvSpPr>
        <p:spPr>
          <a:xfrm>
            <a:off x="9067800" y="2067706"/>
            <a:ext cx="1905000" cy="628650"/>
          </a:xfrm>
          <a:prstGeom prst="roundRect">
            <a:avLst>
              <a:gd name="adj" fmla="val 18182"/>
            </a:avLst>
          </a:prstGeom>
          <a:solidFill>
            <a:srgbClr val="D5004F"/>
          </a:solidFill>
          <a:ln w="19050">
            <a:solidFill>
              <a:srgbClr val="FFC600"/>
            </a:solidFill>
            <a:prstDash val="soli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7D720E2-F7CC-4B66-B769-CE21D3D9B95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6572250" cy="100584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4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ln w="0">
                  <a:noFill/>
                  <a:prstDash val="solid"/>
                </a:ln>
                <a:solidFill>
                  <a:srgbClr val="102A43"/>
                </a:solidFill>
                <a:latin typeface="Arial"/>
                <a:ea typeface="Arial"/>
                <a:cs typeface="Arial"/>
              </a:rPr>
              <a:t>Un objectif SMART rend le progrès vérifiable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2CABB22-5D43-47C9-A3DF-4C88DD0A2D94}"/>
              </a:ext>
            </a:extLst>
          </p:cNvPr>
          <p:cNvSpPr>
            <a:spLocks noGrp="1"/>
          </p:cNvSpPr>
          <p:nvPr/>
        </p:nvSpPr>
        <p:spPr>
          <a:xfrm>
            <a:off x="6972300" y="2928327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7D6"/>
          </a:solidFill>
          <a:ln w="9525">
            <a:solidFill>
              <a:srgbClr val="FFC600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>
              <a:lnSpc>
                <a:spcPct val="90000"/>
              </a:lnSpc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Répond au risque ou au besoin prioritaire identifié.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AFFE78D-FF8F-4466-91AD-724604E55185}"/>
              </a:ext>
            </a:extLst>
          </p:cNvPr>
          <p:cNvSpPr>
            <a:spLocks noGrp="1"/>
          </p:cNvSpPr>
          <p:nvPr/>
        </p:nvSpPr>
        <p:spPr>
          <a:xfrm>
            <a:off x="9067800" y="2928327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>
              <a:lnSpc>
                <a:spcPct val="90000"/>
              </a:lnSpc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Précise la date d’application et le prochain point de suivi.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884538D-3577-409E-9F23-8E7504D1D2A7}"/>
              </a:ext>
            </a:extLst>
          </p:cNvPr>
          <p:cNvSpPr>
            <a:spLocks noGrp="1"/>
          </p:cNvSpPr>
          <p:nvPr/>
        </p:nvSpPr>
        <p:spPr>
          <a:xfrm>
            <a:off x="685800" y="2928326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Décrit un comportement observable et une situation précise.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75CFCA0D-F820-41D0-B755-C25A92DC2D9F}"/>
              </a:ext>
            </a:extLst>
          </p:cNvPr>
          <p:cNvSpPr>
            <a:spLocks noGrp="1"/>
          </p:cNvSpPr>
          <p:nvPr/>
        </p:nvSpPr>
        <p:spPr>
          <a:xfrm>
            <a:off x="2781300" y="2928326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7D6"/>
          </a:solidFill>
          <a:ln w="9525">
            <a:solidFill>
              <a:srgbClr val="FFC600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Fixe un indicateur, un seuil et la source de contrôle.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1A6393D-3BBF-4A8C-AB1D-957B409EB601}"/>
              </a:ext>
            </a:extLst>
          </p:cNvPr>
          <p:cNvSpPr>
            <a:spLocks noGrp="1"/>
          </p:cNvSpPr>
          <p:nvPr/>
        </p:nvSpPr>
        <p:spPr>
          <a:xfrm>
            <a:off x="4876800" y="2928326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>
              <a:lnSpc>
                <a:spcPct val="90000"/>
              </a:lnSpc>
              <a:buNone/>
              <a:defRPr sz="1238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Tient compte du niveau actuel et des moyens disponibles.</a:t>
            </a:r>
          </a:p>
        </p:txBody>
      </p:sp>
      <p:sp>
        <p:nvSpPr>
          <p:cNvPr id="23" name="Légende : flèche vers le haut 22">
            <a:extLst>
              <a:ext uri="{FF2B5EF4-FFF2-40B4-BE49-F238E27FC236}">
                <a16:creationId xmlns:a16="http://schemas.microsoft.com/office/drawing/2014/main" id="{956481F9-C3A4-48CE-878E-FA5E6F720A1A}"/>
              </a:ext>
            </a:extLst>
          </p:cNvPr>
          <p:cNvSpPr/>
          <p:nvPr/>
        </p:nvSpPr>
        <p:spPr>
          <a:xfrm>
            <a:off x="2781298" y="4452326"/>
            <a:ext cx="1905000" cy="1792166"/>
          </a:xfrm>
          <a:prstGeom prst="upArrowCallout">
            <a:avLst>
              <a:gd name="adj1" fmla="val 17543"/>
              <a:gd name="adj2" fmla="val 21359"/>
              <a:gd name="adj3" fmla="val 22461"/>
              <a:gd name="adj4" fmla="val 64977"/>
            </a:avLst>
          </a:prstGeom>
          <a:noFill/>
          <a:ln w="9525">
            <a:solidFill>
              <a:srgbClr val="FFC600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/>
            <a:r>
              <a:rPr lang="fr-FR" sz="6000" b="1" dirty="0">
                <a:ln>
                  <a:solidFill>
                    <a:srgbClr val="FFC000"/>
                  </a:solidFill>
                </a:ln>
                <a:solidFill>
                  <a:srgbClr val="102A43"/>
                </a:solidFill>
                <a:latin typeface="Arial"/>
                <a:cs typeface="Arial"/>
              </a:rPr>
              <a:t>M</a:t>
            </a:r>
          </a:p>
        </p:txBody>
      </p:sp>
      <p:sp>
        <p:nvSpPr>
          <p:cNvPr id="28" name="Légende : flèche vers le haut 27">
            <a:extLst>
              <a:ext uri="{FF2B5EF4-FFF2-40B4-BE49-F238E27FC236}">
                <a16:creationId xmlns:a16="http://schemas.microsoft.com/office/drawing/2014/main" id="{46C1F857-2AB9-461A-B062-C360127E6BCB}"/>
              </a:ext>
            </a:extLst>
          </p:cNvPr>
          <p:cNvSpPr/>
          <p:nvPr/>
        </p:nvSpPr>
        <p:spPr>
          <a:xfrm>
            <a:off x="4876799" y="4452326"/>
            <a:ext cx="1905000" cy="1792166"/>
          </a:xfrm>
          <a:prstGeom prst="upArrowCallout">
            <a:avLst>
              <a:gd name="adj1" fmla="val 17543"/>
              <a:gd name="adj2" fmla="val 21359"/>
              <a:gd name="adj3" fmla="val 22461"/>
              <a:gd name="adj4" fmla="val 64977"/>
            </a:avLst>
          </a:prstGeom>
          <a:noFill/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/>
            <a:r>
              <a:rPr lang="fr-FR" sz="6000" b="1" dirty="0">
                <a:ln>
                  <a:solidFill>
                    <a:srgbClr val="FFC000"/>
                  </a:solidFill>
                </a:ln>
                <a:solidFill>
                  <a:srgbClr val="D5004F"/>
                </a:solidFill>
                <a:latin typeface="Arial"/>
                <a:cs typeface="Arial"/>
              </a:rPr>
              <a:t>A</a:t>
            </a:r>
          </a:p>
        </p:txBody>
      </p:sp>
      <p:sp>
        <p:nvSpPr>
          <p:cNvPr id="29" name="Légende : flèche vers le haut 28">
            <a:extLst>
              <a:ext uri="{FF2B5EF4-FFF2-40B4-BE49-F238E27FC236}">
                <a16:creationId xmlns:a16="http://schemas.microsoft.com/office/drawing/2014/main" id="{2C21F2DF-FB7A-4D01-9ECF-BB1D1356D776}"/>
              </a:ext>
            </a:extLst>
          </p:cNvPr>
          <p:cNvSpPr/>
          <p:nvPr/>
        </p:nvSpPr>
        <p:spPr>
          <a:xfrm>
            <a:off x="6972300" y="4452326"/>
            <a:ext cx="1905000" cy="1792166"/>
          </a:xfrm>
          <a:prstGeom prst="upArrowCallout">
            <a:avLst>
              <a:gd name="adj1" fmla="val 17543"/>
              <a:gd name="adj2" fmla="val 21359"/>
              <a:gd name="adj3" fmla="val 22461"/>
              <a:gd name="adj4" fmla="val 64977"/>
            </a:avLst>
          </a:prstGeom>
          <a:noFill/>
          <a:ln w="9525">
            <a:solidFill>
              <a:srgbClr val="FFC600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/>
            <a:r>
              <a:rPr lang="fr-FR" sz="6000" b="1" dirty="0">
                <a:ln>
                  <a:solidFill>
                    <a:srgbClr val="FFC000"/>
                  </a:solidFill>
                </a:ln>
                <a:solidFill>
                  <a:srgbClr val="102A43"/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30" name="Légende : flèche vers le haut 29">
            <a:extLst>
              <a:ext uri="{FF2B5EF4-FFF2-40B4-BE49-F238E27FC236}">
                <a16:creationId xmlns:a16="http://schemas.microsoft.com/office/drawing/2014/main" id="{6FDD3D2E-C4EB-4166-9F68-FA3EDBF905EB}"/>
              </a:ext>
            </a:extLst>
          </p:cNvPr>
          <p:cNvSpPr/>
          <p:nvPr/>
        </p:nvSpPr>
        <p:spPr>
          <a:xfrm>
            <a:off x="9067800" y="4452326"/>
            <a:ext cx="1905000" cy="1792166"/>
          </a:xfrm>
          <a:prstGeom prst="upArrowCallout">
            <a:avLst>
              <a:gd name="adj1" fmla="val 17543"/>
              <a:gd name="adj2" fmla="val 21359"/>
              <a:gd name="adj3" fmla="val 22461"/>
              <a:gd name="adj4" fmla="val 64977"/>
            </a:avLst>
          </a:prstGeom>
          <a:noFill/>
          <a:ln w="9525">
            <a:solidFill>
              <a:srgbClr val="D5004F"/>
            </a:solidFill>
            <a:prstDash val="solid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rot="0" spcFirstLastPara="1" vert="horz" wrap="square" lIns="95250" tIns="95250" rIns="95250" bIns="95250" anchor="ctr">
            <a:noAutofit/>
          </a:bodyPr>
          <a:lstStyle/>
          <a:p>
            <a:pPr algn="ctr"/>
            <a:r>
              <a:rPr lang="fr-FR" sz="6000" b="1" dirty="0">
                <a:ln>
                  <a:solidFill>
                    <a:srgbClr val="FFC000"/>
                  </a:solidFill>
                </a:ln>
                <a:solidFill>
                  <a:srgbClr val="D5004F"/>
                </a:solidFill>
                <a:latin typeface="Arial"/>
                <a:cs typeface="Arial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843889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2049497B-36F3-462C-AFDD-94506A24593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953000"/>
          </a:xfrm>
          <a:prstGeom prst="rect">
            <a:avLst/>
          </a:prstGeom>
          <a:noFill/>
          <a:ln w="0">
            <a:noFill/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anchor="ctr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5400" b="1" i="0" u="none" baseline="0">
              <a:ln w="22225">
                <a:solidFill>
                  <a:schemeClr val="accent2"/>
                </a:solidFill>
                <a:prstDash val="solid"/>
              </a:ln>
              <a:solidFill>
                <a:schemeClr val="tx2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/>
            <a:endParaRPr sz="1100"/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/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47" name="Tableau 7"/>
          <p:cNvGraphicFramePr/>
          <p:nvPr>
            <p:extLst>
              <p:ext uri="{D42A27DB-BD31-4B8C-83A1-F6EECF244321}">
                <p14:modId xmlns:p14="http://schemas.microsoft.com/office/powerpoint/2010/main" val="543465957"/>
              </p:ext>
            </p:extLst>
          </p:nvPr>
        </p:nvGraphicFramePr>
        <p:xfrm>
          <a:off x="876300" y="1730619"/>
          <a:ext cx="10439400" cy="5905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Constat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Objectif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Indicateur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Rythme</a:t>
                      </a:r>
                      <a:r>
                        <a:rPr sz="101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de </a:t>
                      </a:r>
                      <a:r>
                        <a:rPr sz="1013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suivi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D50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au 8"/>
          <p:cNvGraphicFramePr/>
          <p:nvPr>
            <p:extLst>
              <p:ext uri="{D42A27DB-BD31-4B8C-83A1-F6EECF244321}">
                <p14:modId xmlns:p14="http://schemas.microsoft.com/office/powerpoint/2010/main" val="3874964046"/>
              </p:ext>
            </p:extLst>
          </p:nvPr>
        </p:nvGraphicFramePr>
        <p:xfrm>
          <a:off x="876300" y="5191125"/>
          <a:ext cx="10439400" cy="990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Fondamental non acquis ou écart répété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Acquérir un réflexe essentiel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Démonstration + entraînement + double écoute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Comportement observé sur plusieurs appels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Points rapprochés puis contrôle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au 9"/>
          <p:cNvGraphicFramePr/>
          <p:nvPr>
            <p:extLst>
              <p:ext uri="{D42A27DB-BD31-4B8C-83A1-F6EECF244321}">
                <p14:modId xmlns:p14="http://schemas.microsoft.com/office/powerpoint/2010/main" val="1622872249"/>
              </p:ext>
            </p:extLst>
          </p:nvPr>
        </p:nvGraphicFramePr>
        <p:xfrm>
          <a:off x="876300" y="4448175"/>
          <a:ext cx="10439400" cy="723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Constat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Objectif </a:t>
                      </a:r>
                      <a:r>
                        <a:rPr sz="1013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prioritaire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Indicateur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Rythme</a:t>
                      </a:r>
                      <a:r>
                        <a:rPr sz="101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de </a:t>
                      </a:r>
                      <a:r>
                        <a:rPr sz="1013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suivi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D50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Tableau 10"/>
          <p:cNvGraphicFramePr/>
          <p:nvPr>
            <p:extLst>
              <p:ext uri="{D42A27DB-BD31-4B8C-83A1-F6EECF244321}">
                <p14:modId xmlns:p14="http://schemas.microsoft.com/office/powerpoint/2010/main" val="1589260369"/>
              </p:ext>
            </p:extLst>
          </p:nvPr>
        </p:nvGraphicFramePr>
        <p:xfrm>
          <a:off x="876300" y="2340219"/>
          <a:ext cx="10439400" cy="1009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9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Pratique globalement maîtrisée mais irrégulière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Stabiliser un comportement ciblé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Auto-analyse + simulation + contrôle différé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Conformité sur l’échantillon convenu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</a:rPr>
                        <a:t>Point court sous 2 semaines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ZoneTexte 32">
            <a:extLst>
              <a:ext uri="{FF2B5EF4-FFF2-40B4-BE49-F238E27FC236}">
                <a16:creationId xmlns:a16="http://schemas.microsoft.com/office/drawing/2014/main" id="{DCCD1408-11AD-4E0C-B155-797431BC6CD8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981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Adapter l’accompagnement au niveau de maîtrise</a:t>
            </a:r>
          </a:p>
        </p:txBody>
      </p:sp>
      <p:sp>
        <p:nvSpPr>
          <p:cNvPr id="40" name="ZoneTexte 30">
            <a:extLst>
              <a:ext uri="{FF2B5EF4-FFF2-40B4-BE49-F238E27FC236}">
                <a16:creationId xmlns:a16="http://schemas.microsoft.com/office/drawing/2014/main" id="{68058472-D9C4-464D-83FC-FF528D52E22D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Niveau intermédiaire — coaching et perfectionnement</a:t>
            </a:r>
          </a:p>
        </p:txBody>
      </p:sp>
      <p:sp>
        <p:nvSpPr>
          <p:cNvPr id="41" name="ZoneTexte 31">
            <a:extLst>
              <a:ext uri="{FF2B5EF4-FFF2-40B4-BE49-F238E27FC236}">
                <a16:creationId xmlns:a16="http://schemas.microsoft.com/office/drawing/2014/main" id="{FB110904-098A-4089-B952-E04B7DF0AE3D}"/>
              </a:ext>
            </a:extLst>
          </p:cNvPr>
          <p:cNvSpPr>
            <a:spLocks noGrp="1"/>
          </p:cNvSpPr>
          <p:nvPr/>
        </p:nvSpPr>
        <p:spPr>
          <a:xfrm>
            <a:off x="876300" y="3629391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D5004F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D5004F"/>
                </a:solidFill>
                <a:latin typeface="Arial"/>
                <a:ea typeface="Arial"/>
                <a:cs typeface="Arial"/>
              </a:rPr>
              <a:t>Niveau</a:t>
            </a:r>
            <a:r>
              <a:rPr sz="1800" b="1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 fragile — </a:t>
            </a:r>
            <a:r>
              <a:rPr sz="1800" b="1" dirty="0" err="1">
                <a:solidFill>
                  <a:srgbClr val="D5004F"/>
                </a:solidFill>
                <a:latin typeface="Arial"/>
                <a:ea typeface="Arial"/>
                <a:cs typeface="Arial"/>
              </a:rPr>
              <a:t>fondamentaux</a:t>
            </a:r>
            <a:r>
              <a:rPr sz="1800" b="1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 et </a:t>
            </a:r>
            <a:r>
              <a:rPr sz="1800" b="1" dirty="0" err="1">
                <a:solidFill>
                  <a:srgbClr val="D5004F"/>
                </a:solidFill>
                <a:latin typeface="Arial"/>
                <a:ea typeface="Arial"/>
                <a:cs typeface="Arial"/>
              </a:rPr>
              <a:t>accompagnement</a:t>
            </a:r>
            <a:r>
              <a:rPr sz="1800" b="1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D5004F"/>
                </a:solidFill>
                <a:latin typeface="Arial"/>
                <a:ea typeface="Arial"/>
                <a:cs typeface="Arial"/>
              </a:rPr>
              <a:t>rapproché</a:t>
            </a:r>
            <a:endParaRPr sz="1800" b="1" dirty="0">
              <a:solidFill>
                <a:srgbClr val="D5004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5703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C09AB-2961-4D4B-B5AD-146950EAB849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egoe UI Light"/>
                <a:ea typeface="Segoe UI Light"/>
                <a:cs typeface="Segoe UI Light"/>
              </a:defRPr>
            </a:lvl1pPr>
            <a:lvl2pPr marL="0" marR="0" indent="1143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2pPr>
            <a:lvl3pPr marL="0" marR="0" indent="2286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3pPr>
            <a:lvl4pPr marL="0" marR="0" indent="3429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4pPr>
            <a:lvl5pPr marL="0" marR="0" indent="4572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5pPr>
            <a:lvl6pPr marL="0" marR="0" indent="5715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0" marR="0" indent="6858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0" marR="0" indent="8001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0" marR="0" indent="9144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ln w="0">
                  <a:noFill/>
                  <a:prstDash val="solid"/>
                </a:ln>
                <a:solidFill>
                  <a:srgbClr val="102A43"/>
                </a:solidFill>
                <a:latin typeface="Arial"/>
                <a:ea typeface="Arial"/>
                <a:cs typeface="Arial"/>
              </a:rPr>
              <a:t>Fiche de débrief — 1. Analyse factuelle par appel</a:t>
            </a:r>
          </a:p>
        </p:txBody>
      </p:sp>
      <p:sp>
        <p:nvSpPr>
          <p:cNvPr id="3" name="Espace réservé du contenu 4">
            <a:extLst>
              <a:ext uri="{FF2B5EF4-FFF2-40B4-BE49-F238E27FC236}">
                <a16:creationId xmlns:a16="http://schemas.microsoft.com/office/drawing/2014/main" id="{5797A04F-41AA-4D0B-A53A-B2DC5B548D1B}"/>
              </a:ext>
            </a:extLst>
          </p:cNvPr>
          <p:cNvSpPr>
            <a:spLocks noGrp="1"/>
          </p:cNvSpPr>
          <p:nvPr/>
        </p:nvSpPr>
        <p:spPr>
          <a:xfrm>
            <a:off x="800100" y="1594338"/>
            <a:ext cx="10382250" cy="4596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71450" tIns="152400" rIns="171450" bIns="133350" anchor="t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6"/>
              </a:spcAft>
            </a:pPr>
            <a:endParaRPr lang="fr-FR" sz="1400" b="1" i="0" dirty="0">
              <a:solidFill>
                <a:srgbClr val="D5004F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6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IDENTIFICATION</a:t>
            </a:r>
          </a:p>
          <a:p>
            <a:pPr algn="l">
              <a:spcAft>
                <a:spcPts val="4"/>
              </a:spcAft>
            </a:pP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Collaborateur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    Manager /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évaluateur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Date : ____ / ____ / ______   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Période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analysée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    Type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d’appels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</a:t>
            </a:r>
          </a:p>
          <a:p>
            <a:pPr algn="l">
              <a:spcAft>
                <a:spcPts val="4"/>
              </a:spcAft>
            </a:pP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Nombre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d’appels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écoutés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   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Référence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de la grille /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campagne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</a:t>
            </a:r>
          </a:p>
          <a:p>
            <a:pPr algn="l">
              <a:spcAft>
                <a:spcPts val="6"/>
              </a:spcAft>
            </a:pP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ANALYSE DE L’APPEL N° ____  —  date / </a:t>
            </a:r>
            <a:r>
              <a:rPr sz="1300" b="1" i="0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heure</a:t>
            </a: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: __________  —  motif : ____________________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Faits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observés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/ verbatim /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horodatages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Points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conformes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et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bonnes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pratiques à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maintenir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</a:t>
            </a:r>
          </a:p>
          <a:p>
            <a:pPr algn="l">
              <a:spcAft>
                <a:spcPts val="4"/>
              </a:spcAft>
            </a:pP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Écart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observé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par rapport à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l’attendu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Impact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potentiel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☐ Client 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Conformité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Qualité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Efficacité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☐ Image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Explication /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contexte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apporté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par le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collaborateur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</a:t>
            </a:r>
          </a:p>
          <a:p>
            <a:pPr algn="l">
              <a:spcAft>
                <a:spcPts val="6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SYNTHÈSE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Axe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prioritaire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retenu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   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Niveau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de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maîtrise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solide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intermédiaire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fragile</a:t>
            </a:r>
          </a:p>
          <a:p>
            <a:pPr algn="l">
              <a:spcAft>
                <a:spcPts val="4"/>
              </a:spcAft>
            </a:pP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Recommandation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initiale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59952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73D4047C-5E57-4C9A-85D9-C80BBB12439B}"/>
              </a:ext>
            </a:extLst>
          </p:cNvPr>
          <p:cNvSpPr>
            <a:spLocks noGrp="1"/>
          </p:cNvSpPr>
          <p:nvPr/>
        </p:nvSpPr>
        <p:spPr>
          <a:xfrm>
            <a:off x="800100" y="1680308"/>
            <a:ext cx="10382250" cy="4510942"/>
          </a:xfrm>
          <a:prstGeom prst="rect">
            <a:avLst/>
          </a:prstGeom>
          <a:solidFill>
            <a:srgbClr val="FFFFFF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71450" tIns="152400" rIns="171450" bIns="133350" anchor="t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6"/>
              </a:spcAft>
            </a:pPr>
            <a:endParaRPr lang="fr-FR" sz="1400" b="1" i="0" dirty="0">
              <a:solidFill>
                <a:srgbClr val="D5004F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6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DIAGNOSTIC PARTAGÉ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Point fort principal à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consolider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_______________________________________________________________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Axe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d’amélioration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prioritaire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_________________________________________________________________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Cause probable à confirmer :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compréhension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pratique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outil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organisation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posture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autre</a:t>
            </a:r>
            <a:endParaRPr sz="110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4"/>
              </a:spcAft>
            </a:pP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Risque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ou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impact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associé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_____________________________________________________________________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Formulation du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collaborateur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(«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que je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comprends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/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que je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dois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changer ») : ____________________</a:t>
            </a:r>
          </a:p>
          <a:p>
            <a:pPr algn="l">
              <a:spcAft>
                <a:spcPts val="6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MOYENS D’ACCOMPAGNEMENT RETENUS</a:t>
            </a: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☐ Coaching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individuel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 ☐ Micro-learning / formation     ☐ Rappel de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procédure</a:t>
            </a:r>
            <a:endParaRPr sz="110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4"/>
              </a:spcAft>
            </a:pP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☐ Mise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en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situation / jeu de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rôle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 ☐ Double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écoute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/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binôme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 ☐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Outil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ou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trame</a:t>
            </a:r>
            <a:endParaRPr sz="110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4"/>
              </a:spcAft>
            </a:pP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Ressource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précise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   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Responsable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    Date de mise à disposition : ____ / ____ / ______</a:t>
            </a:r>
          </a:p>
          <a:p>
            <a:pPr algn="l">
              <a:spcAft>
                <a:spcPts val="4"/>
              </a:spcAft>
            </a:pP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POINT DE VIGILANCE</a:t>
            </a:r>
          </a:p>
          <a:p>
            <a:pPr algn="l">
              <a:spcAft>
                <a:spcPts val="4"/>
              </a:spcAft>
            </a:pP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L’accompagnement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choisi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doit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traiter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la cause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identifiée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pas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seulement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répéter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la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règle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10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attendue</a:t>
            </a:r>
            <a:r>
              <a:rPr sz="110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AD0101D-7B8B-424B-ACE5-1187F7217259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781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Fiche de débrief — 2. Diagnostic et moyens d’accompagnement</a:t>
            </a:r>
          </a:p>
        </p:txBody>
      </p:sp>
    </p:spTree>
    <p:extLst>
      <p:ext uri="{BB962C8B-B14F-4D97-AF65-F5344CB8AC3E}">
        <p14:creationId xmlns:p14="http://schemas.microsoft.com/office/powerpoint/2010/main" val="1801381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0718D9FE-10A5-4EF2-AE22-AF5BE2F2DAD6}"/>
              </a:ext>
            </a:extLst>
          </p:cNvPr>
          <p:cNvSpPr>
            <a:spLocks noGrp="1"/>
          </p:cNvSpPr>
          <p:nvPr/>
        </p:nvSpPr>
        <p:spPr>
          <a:xfrm>
            <a:off x="904875" y="428625"/>
            <a:ext cx="10382250" cy="600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71450" tIns="152400" rIns="171450" bIns="133350" anchor="t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8"/>
              </a:spcAft>
            </a:pPr>
            <a:r>
              <a:rPr sz="27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Fiche de </a:t>
            </a:r>
            <a:r>
              <a:rPr sz="2700" b="1" i="0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débrief</a:t>
            </a:r>
            <a:r>
              <a:rPr sz="27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— 3. Plan </a:t>
            </a:r>
            <a:r>
              <a:rPr sz="2700" b="1" i="0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d’action</a:t>
            </a:r>
            <a:r>
              <a:rPr sz="27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et engagements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endParaRPr lang="fr-FR" sz="108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4"/>
              </a:spcAft>
            </a:pPr>
            <a:endParaRPr sz="108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spcAft>
                <a:spcPts val="5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ENGAGEMENT DU COLLABORATEUR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Ce que je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vais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mettre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en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pratique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dès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maintenant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</a:t>
            </a:r>
          </a:p>
          <a:p>
            <a:pPr algn="l">
              <a:spcAft>
                <a:spcPts val="4"/>
              </a:spcAft>
            </a:pP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Difficulté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anticipée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/ aide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nécessaire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</a:t>
            </a:r>
          </a:p>
          <a:p>
            <a:pPr algn="l">
              <a:spcAft>
                <a:spcPts val="5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ENGAGEMENT DU MANAGER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Action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d’accompagnement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    Date : ____ / ____ / ______   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Preuve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attendue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</a:t>
            </a:r>
          </a:p>
          <a:p>
            <a:pPr algn="l">
              <a:spcAft>
                <a:spcPts val="4"/>
              </a:spcAft>
            </a:pP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Modalité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☐ coaching  ☐ simulation  ☐ double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écoute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rappel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procédure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formation  ☐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suivi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renforcé</a:t>
            </a:r>
            <a:endParaRPr sz="1080" dirty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>
              <a:spcAft>
                <a:spcPts val="5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PROCHAIN CONTRÔLE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Date : ____ / ____ / ______   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Échantillon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/ situation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observée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</a:t>
            </a:r>
          </a:p>
          <a:p>
            <a:pPr algn="l">
              <a:spcAft>
                <a:spcPts val="4"/>
              </a:spcAft>
            </a:pP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Objectif du prochain </a:t>
            </a:r>
            <a:r>
              <a:rPr sz="108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débrief</a:t>
            </a:r>
            <a:r>
              <a:rPr sz="108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_________________________________________________________________</a:t>
            </a:r>
          </a:p>
        </p:txBody>
      </p:sp>
      <p:graphicFrame>
        <p:nvGraphicFramePr>
          <p:cNvPr id="5" name="Tableau 3"/>
          <p:cNvGraphicFramePr/>
          <p:nvPr>
            <p:extLst>
              <p:ext uri="{D42A27DB-BD31-4B8C-83A1-F6EECF244321}">
                <p14:modId xmlns:p14="http://schemas.microsoft.com/office/powerpoint/2010/main" val="863240425"/>
              </p:ext>
            </p:extLst>
          </p:nvPr>
        </p:nvGraphicFramePr>
        <p:xfrm>
          <a:off x="1028700" y="1465873"/>
          <a:ext cx="10020300" cy="5143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AXE PRIORITAIRE</a:t>
                      </a: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 / RESPONSABLE</a:t>
                      </a: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INDICATEUR / SEUIL</a:t>
                      </a:r>
                    </a:p>
                  </a:txBody>
                  <a:tcPr marL="76200" marR="76200" marT="57150" marB="5715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2921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13" b="1" i="0" u="none" cap="none" spc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ÉCHÉANCE</a:t>
                      </a:r>
                    </a:p>
                  </a:txBody>
                  <a:tcPr marL="76200" marR="76200" marT="57150" marB="57150" anchor="ctr">
                    <a:solidFill>
                      <a:srgbClr val="D50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886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73D4047C-5E57-4C9A-85D9-C80BBB12439B}"/>
              </a:ext>
            </a:extLst>
          </p:cNvPr>
          <p:cNvSpPr>
            <a:spLocks noGrp="1"/>
          </p:cNvSpPr>
          <p:nvPr/>
        </p:nvSpPr>
        <p:spPr>
          <a:xfrm>
            <a:off x="800100" y="1844431"/>
            <a:ext cx="10382250" cy="3775318"/>
          </a:xfrm>
          <a:prstGeom prst="rect">
            <a:avLst/>
          </a:prstGeom>
          <a:solidFill>
            <a:srgbClr val="FFFFFF"/>
          </a:solidFill>
          <a:ln w="9525">
            <a:solidFill>
              <a:srgbClr val="FFC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71450" tIns="152400" rIns="171450" bIns="133350" anchor="t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8"/>
              </a:spcAft>
            </a:pPr>
            <a:r>
              <a:rPr sz="16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CALENDRIER DE SUIVI</a:t>
            </a:r>
          </a:p>
          <a:p>
            <a:pPr algn="l">
              <a:spcAft>
                <a:spcPts val="3"/>
              </a:spcAft>
            </a:pP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J0 — </a:t>
            </a:r>
            <a:r>
              <a:rPr sz="1300" b="1" i="0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Débrief</a:t>
            </a: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et engagement</a:t>
            </a:r>
          </a:p>
          <a:p>
            <a:pPr algn="l">
              <a:spcAft>
                <a:spcPts val="4"/>
              </a:spcAft>
            </a:pP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Fiche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complétée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action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lancée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moyens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confirmés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et date de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contrôle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réservée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spcAft>
                <a:spcPts val="3"/>
              </a:spcAft>
            </a:pP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Point </a:t>
            </a:r>
            <a:r>
              <a:rPr sz="1300" b="1" i="0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intermédiaire</a:t>
            </a: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— feedback court</a:t>
            </a:r>
          </a:p>
          <a:p>
            <a:pPr algn="l">
              <a:spcAft>
                <a:spcPts val="4"/>
              </a:spcAft>
            </a:pP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Date : ____ / ____ / ______   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Avancement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☐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réalisé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partiel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bloqué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Ajustement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</a:t>
            </a:r>
          </a:p>
          <a:p>
            <a:pPr algn="l">
              <a:spcAft>
                <a:spcPts val="3"/>
              </a:spcAft>
            </a:pPr>
            <a:r>
              <a:rPr sz="1300" b="1" i="0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Contrôle</a:t>
            </a: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— nouvelle </a:t>
            </a:r>
            <a:r>
              <a:rPr sz="1300" b="1" i="0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écoute</a:t>
            </a:r>
            <a:r>
              <a:rPr sz="1300" b="1" i="0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/ observation</a:t>
            </a:r>
          </a:p>
          <a:p>
            <a:pPr algn="l">
              <a:spcAft>
                <a:spcPts val="4"/>
              </a:spcAft>
            </a:pP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Date : ____ / ____ / ______   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Résultat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☐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atteint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en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progrès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☐ non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atteint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Preuve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</a:t>
            </a:r>
          </a:p>
          <a:p>
            <a:pPr algn="l">
              <a:spcAft>
                <a:spcPts val="5"/>
              </a:spcAft>
            </a:pPr>
            <a:r>
              <a:rPr sz="16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DÉCISION</a:t>
            </a:r>
          </a:p>
          <a:p>
            <a:pPr algn="l">
              <a:spcAft>
                <a:spcPts val="4"/>
              </a:spcAft>
            </a:pP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☐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Clôturer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et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maintenir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la vigilance     ☐ Prolonger /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ajuster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l’action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 ☐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Renforcer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l’accompagnement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    ☐ Escalader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selon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le cadre applicable</a:t>
            </a:r>
          </a:p>
          <a:p>
            <a:pPr algn="l">
              <a:spcAft>
                <a:spcPts val="4"/>
              </a:spcAft>
            </a:pP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Commentaire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de </a:t>
            </a: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clôture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_______________________________________________________________________</a:t>
            </a:r>
          </a:p>
          <a:p>
            <a:pPr algn="l">
              <a:spcAft>
                <a:spcPts val="5"/>
              </a:spcAft>
            </a:pPr>
            <a:r>
              <a:rPr sz="1400" b="1" i="0" dirty="0">
                <a:solidFill>
                  <a:srgbClr val="D5004F"/>
                </a:solidFill>
                <a:latin typeface="Arial"/>
                <a:ea typeface="Arial"/>
                <a:cs typeface="Arial"/>
              </a:rPr>
              <a:t>ENGAGEMENT ET SIGNATURES</a:t>
            </a:r>
          </a:p>
          <a:p>
            <a:pPr algn="l">
              <a:spcAft>
                <a:spcPts val="4"/>
              </a:spcAft>
            </a:pPr>
            <a:r>
              <a:rPr sz="1050" dirty="0" err="1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Collaborateur</a:t>
            </a:r>
            <a:r>
              <a:rPr sz="1050" dirty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: ____________________    Manager : ____________________    Date : ____ / ____ / ______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BE5A08D-9449-4480-8026-005CCE9CAAFF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781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Fiche de débrief — 4. Suivi, décision et clôture</a:t>
            </a:r>
          </a:p>
        </p:txBody>
      </p:sp>
    </p:spTree>
    <p:extLst>
      <p:ext uri="{BB962C8B-B14F-4D97-AF65-F5344CB8AC3E}">
        <p14:creationId xmlns:p14="http://schemas.microsoft.com/office/powerpoint/2010/main" val="1801381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noGrp="1"/>
          </p:cNvSpPr>
          <p:nvPr/>
        </p:nvSpPr>
        <p:spPr>
          <a:xfrm>
            <a:off x="800100" y="323850"/>
            <a:ext cx="9239250" cy="114300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4"/>
              </a:spcAft>
            </a:pPr>
            <a:r>
              <a:rPr sz="2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gouvernance combine suivi individuel et lecture consolidée des risques</a:t>
            </a:r>
          </a:p>
          <a:p>
            <a:pPr algn="l"/>
            <a:r>
              <a:rPr sz="1250">
                <a:solidFill>
                  <a:srgbClr val="627D98"/>
                </a:solidFill>
                <a:latin typeface="Arial"/>
                <a:ea typeface="Arial"/>
                <a:cs typeface="Arial"/>
              </a:rPr>
              <a:t>Le pilotage ne mesure pas seulement le nombre de débriefs ; il vérifie leur qualité, leur ponctualité et leur efficacité.</a:t>
            </a:r>
          </a:p>
        </p:txBody>
      </p:sp>
      <p:sp>
        <p:nvSpPr>
          <p:cNvPr id="9" name="governance-1">
            <a:extLst>
              <a:ext uri="{FF2B5EF4-FFF2-40B4-BE49-F238E27FC236}">
                <a16:creationId xmlns:a16="http://schemas.microsoft.com/office/drawing/2014/main" id="{BC6FFE9A-43F1-4702-8BA7-73DD6F0404A3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31432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Manager</a:t>
            </a:r>
          </a:p>
          <a:p>
            <a:pPr algn="ctr"/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Met à jour la fiche, suit les actions, réalise le contrôle et documente la décision.</a:t>
            </a:r>
          </a:p>
        </p:txBody>
      </p:sp>
      <p:sp>
        <p:nvSpPr>
          <p:cNvPr id="10" name="governance-2">
            <a:extLst>
              <a:ext uri="{FF2B5EF4-FFF2-40B4-BE49-F238E27FC236}">
                <a16:creationId xmlns:a16="http://schemas.microsoft.com/office/drawing/2014/main" id="{84B49C0E-8A5F-42C0-8697-F59B5C8B26F7}"/>
              </a:ext>
            </a:extLst>
          </p:cNvPr>
          <p:cNvSpPr>
            <a:spLocks noGrp="1"/>
          </p:cNvSpPr>
          <p:nvPr/>
        </p:nvSpPr>
        <p:spPr>
          <a:xfrm>
            <a:off x="4343400" y="1809750"/>
            <a:ext cx="3143250" cy="1905000"/>
          </a:xfrm>
          <a:prstGeom prst="roundRect">
            <a:avLst>
              <a:gd name="adj" fmla="val 6000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6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Qualité / Conformité</a:t>
            </a:r>
          </a:p>
          <a:p>
            <a:pPr algn="ctr"/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Contrôle la complétude, calibre les pratiques et analyse les thèmes récurrents.</a:t>
            </a:r>
          </a:p>
        </p:txBody>
      </p:sp>
      <p:sp>
        <p:nvSpPr>
          <p:cNvPr id="11" name="governance-3">
            <a:extLst>
              <a:ext uri="{FF2B5EF4-FFF2-40B4-BE49-F238E27FC236}">
                <a16:creationId xmlns:a16="http://schemas.microsoft.com/office/drawing/2014/main" id="{AAC78AE5-11B9-4205-804F-44B513986061}"/>
              </a:ext>
            </a:extLst>
          </p:cNvPr>
          <p:cNvSpPr>
            <a:spLocks noGrp="1"/>
          </p:cNvSpPr>
          <p:nvPr/>
        </p:nvSpPr>
        <p:spPr>
          <a:xfrm>
            <a:off x="7867650" y="1809750"/>
            <a:ext cx="31432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Comité de pilotage</a:t>
            </a:r>
          </a:p>
          <a:p>
            <a:pPr algn="ctr"/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Arbitre les actions collectives, les besoins de formation et les risques à escalader.</a:t>
            </a:r>
          </a:p>
        </p:txBody>
      </p:sp>
      <p:sp>
        <p:nvSpPr>
          <p:cNvPr id="12" name="kpi-1">
            <a:extLst>
              <a:ext uri="{FF2B5EF4-FFF2-40B4-BE49-F238E27FC236}">
                <a16:creationId xmlns:a16="http://schemas.microsoft.com/office/drawing/2014/main" id="{898A38A8-474C-41D5-A957-BFA0B62E0C44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1952625" cy="1285875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9525">
            <a:solidFill>
              <a:srgbClr val="D9E2EC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4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Couverture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Débriefs réalisés / débriefs requis</a:t>
            </a:r>
          </a:p>
        </p:txBody>
      </p:sp>
      <p:sp>
        <p:nvSpPr>
          <p:cNvPr id="13" name="kpi-2">
            <a:extLst>
              <a:ext uri="{FF2B5EF4-FFF2-40B4-BE49-F238E27FC236}">
                <a16:creationId xmlns:a16="http://schemas.microsoft.com/office/drawing/2014/main" id="{052B9F22-BC26-4F18-B1BA-1F219B2BD419}"/>
              </a:ext>
            </a:extLst>
          </p:cNvPr>
          <p:cNvSpPr>
            <a:spLocks noGrp="1"/>
          </p:cNvSpPr>
          <p:nvPr/>
        </p:nvSpPr>
        <p:spPr>
          <a:xfrm>
            <a:off x="2828925" y="4143375"/>
            <a:ext cx="1952625" cy="1285875"/>
          </a:xfrm>
          <a:prstGeom prst="roundRect">
            <a:avLst>
              <a:gd name="adj" fmla="val 8889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Complétude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Fiches avec action, indicateur et date</a:t>
            </a:r>
          </a:p>
        </p:txBody>
      </p:sp>
      <p:sp>
        <p:nvSpPr>
          <p:cNvPr id="14" name="kpi-3">
            <a:extLst>
              <a:ext uri="{FF2B5EF4-FFF2-40B4-BE49-F238E27FC236}">
                <a16:creationId xmlns:a16="http://schemas.microsoft.com/office/drawing/2014/main" id="{EF466561-8B7D-4C47-BAB7-B7BFF3FDE25D}"/>
              </a:ext>
            </a:extLst>
          </p:cNvPr>
          <p:cNvSpPr>
            <a:spLocks noGrp="1"/>
          </p:cNvSpPr>
          <p:nvPr/>
        </p:nvSpPr>
        <p:spPr>
          <a:xfrm>
            <a:off x="4972050" y="4143375"/>
            <a:ext cx="1952625" cy="1285875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9525">
            <a:solidFill>
              <a:srgbClr val="D9E2EC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4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Ponctualité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Suivis réalisés à l’échéance</a:t>
            </a:r>
          </a:p>
        </p:txBody>
      </p:sp>
      <p:sp>
        <p:nvSpPr>
          <p:cNvPr id="15" name="kpi-4">
            <a:extLst>
              <a:ext uri="{FF2B5EF4-FFF2-40B4-BE49-F238E27FC236}">
                <a16:creationId xmlns:a16="http://schemas.microsoft.com/office/drawing/2014/main" id="{97AC00C8-51D8-4B64-88CC-490C022D4403}"/>
              </a:ext>
            </a:extLst>
          </p:cNvPr>
          <p:cNvSpPr>
            <a:spLocks noGrp="1"/>
          </p:cNvSpPr>
          <p:nvPr/>
        </p:nvSpPr>
        <p:spPr>
          <a:xfrm>
            <a:off x="7115175" y="4143375"/>
            <a:ext cx="1952625" cy="1285875"/>
          </a:xfrm>
          <a:prstGeom prst="roundRect">
            <a:avLst>
              <a:gd name="adj" fmla="val 8889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Efficacité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Objectifs atteints au contrôle</a:t>
            </a:r>
          </a:p>
        </p:txBody>
      </p:sp>
      <p:sp>
        <p:nvSpPr>
          <p:cNvPr id="16" name="kpi-5">
            <a:extLst>
              <a:ext uri="{FF2B5EF4-FFF2-40B4-BE49-F238E27FC236}">
                <a16:creationId xmlns:a16="http://schemas.microsoft.com/office/drawing/2014/main" id="{7FB3F35C-0122-4264-9EA1-5408E4C63FE8}"/>
              </a:ext>
            </a:extLst>
          </p:cNvPr>
          <p:cNvSpPr>
            <a:spLocks noGrp="1"/>
          </p:cNvSpPr>
          <p:nvPr/>
        </p:nvSpPr>
        <p:spPr>
          <a:xfrm>
            <a:off x="9258300" y="4143375"/>
            <a:ext cx="1952625" cy="1285875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 w="9525">
            <a:solidFill>
              <a:srgbClr val="D9E2EC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4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Récurrence</a:t>
            </a:r>
          </a:p>
          <a:p>
            <a:pPr algn="ctr"/>
            <a:r>
              <a:rPr sz="1050">
                <a:solidFill>
                  <a:srgbClr val="243B53"/>
                </a:solidFill>
                <a:latin typeface="Arial"/>
                <a:ea typeface="Arial"/>
                <a:cs typeface="Arial"/>
              </a:rPr>
              <a:t>Écarts répétés après accompagnement</a:t>
            </a:r>
          </a:p>
        </p:txBody>
      </p:sp>
      <p:sp>
        <p:nvSpPr>
          <p:cNvPr id="17" name="kpi-cadence">
            <a:extLst>
              <a:ext uri="{FF2B5EF4-FFF2-40B4-BE49-F238E27FC236}">
                <a16:creationId xmlns:a16="http://schemas.microsoft.com/office/drawing/2014/main" id="{03008B81-B3BA-4948-B4EE-ECF9030F410F}"/>
              </a:ext>
            </a:extLst>
          </p:cNvPr>
          <p:cNvSpPr>
            <a:spLocks noGrp="1"/>
          </p:cNvSpPr>
          <p:nvPr/>
        </p:nvSpPr>
        <p:spPr>
          <a:xfrm>
            <a:off x="1714500" y="5619750"/>
            <a:ext cx="8572500" cy="381000"/>
          </a:xfrm>
          <a:prstGeom prst="roundRect">
            <a:avLst>
              <a:gd name="adj" fmla="val 20000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163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Cadence proposée : revue opérationnelle régulière et synthèse consolidée à la fréquence retenue par la gouvernance.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noGrp="1"/>
          </p:cNvSpPr>
          <p:nvPr/>
        </p:nvSpPr>
        <p:spPr>
          <a:xfrm>
            <a:off x="800100" y="228600"/>
            <a:ext cx="9334500" cy="933450"/>
          </a:xfrm>
          <a:prstGeom prst="rect">
            <a:avLst/>
          </a:prstGeom>
          <a:noFill/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anchor="ctr">
            <a:noAutofit/>
          </a:bodyPr>
          <a:lstStyle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>
            <a:pPr algn="l">
              <a:spcAft>
                <a:spcPts val="8"/>
              </a:spcAft>
              <a:buNone/>
              <a:defRPr sz="2850" b="1">
                <a:ln w="0">
                  <a:noFill/>
                  <a:prstDash val="solid"/>
                </a:ln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Décision proposée : valider le standard et lancer un pilote encadré</a:t>
            </a:r>
          </a:p>
        </p:txBody>
      </p:sp>
      <p:sp>
        <p:nvSpPr>
          <p:cNvPr id="9" name="decision-subtitle">
            <a:extLst>
              <a:ext uri="{FF2B5EF4-FFF2-40B4-BE49-F238E27FC236}">
                <a16:creationId xmlns:a16="http://schemas.microsoft.com/office/drawing/2014/main" id="{D17970BC-D340-4199-8ED9-64274719607E}"/>
              </a:ext>
            </a:extLst>
          </p:cNvPr>
          <p:cNvSpPr>
            <a:spLocks noGrp="1"/>
          </p:cNvSpPr>
          <p:nvPr/>
        </p:nvSpPr>
        <p:spPr>
          <a:xfrm>
            <a:off x="800100" y="1162050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Le pilote permettra de tester l’usage réel, d’ajuster les supports et de confirmer les indicateurs avant généralisation.</a:t>
            </a:r>
          </a:p>
        </p:txBody>
      </p:sp>
      <p:sp>
        <p:nvSpPr>
          <p:cNvPr id="10" name="decision-1">
            <a:extLst>
              <a:ext uri="{FF2B5EF4-FFF2-40B4-BE49-F238E27FC236}">
                <a16:creationId xmlns:a16="http://schemas.microsoft.com/office/drawing/2014/main" id="{7449169A-163E-467A-9AC2-D48F92243A28}"/>
              </a:ext>
            </a:extLst>
          </p:cNvPr>
          <p:cNvSpPr>
            <a:spLocks noGrp="1"/>
          </p:cNvSpPr>
          <p:nvPr/>
        </p:nvSpPr>
        <p:spPr>
          <a:xfrm>
            <a:off x="819150" y="1857375"/>
            <a:ext cx="31432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 · Valider le processus</a:t>
            </a:r>
          </a:p>
          <a:p>
            <a:pPr algn="ctr"/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Parcours en 7 étapes, rôles, exigences de traçabilité et critères de clôture.</a:t>
            </a:r>
          </a:p>
        </p:txBody>
      </p:sp>
      <p:sp>
        <p:nvSpPr>
          <p:cNvPr id="11" name="decision-2">
            <a:extLst>
              <a:ext uri="{FF2B5EF4-FFF2-40B4-BE49-F238E27FC236}">
                <a16:creationId xmlns:a16="http://schemas.microsoft.com/office/drawing/2014/main" id="{F1FDCCBF-7CCD-423D-8AC2-45FEA3C1A71B}"/>
              </a:ext>
            </a:extLst>
          </p:cNvPr>
          <p:cNvSpPr>
            <a:spLocks noGrp="1"/>
          </p:cNvSpPr>
          <p:nvPr/>
        </p:nvSpPr>
        <p:spPr>
          <a:xfrm>
            <a:off x="4343400" y="1857375"/>
            <a:ext cx="3143250" cy="1666875"/>
          </a:xfrm>
          <a:prstGeom prst="roundRect">
            <a:avLst>
              <a:gd name="adj" fmla="val 6857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60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2 · Adopter la fiche</a:t>
            </a:r>
          </a:p>
          <a:p>
            <a:pPr algn="ctr"/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Un support unique en 4 parties : analyse, diagnostic, action, suivi.</a:t>
            </a:r>
          </a:p>
        </p:txBody>
      </p:sp>
      <p:sp>
        <p:nvSpPr>
          <p:cNvPr id="12" name="decision-3">
            <a:extLst>
              <a:ext uri="{FF2B5EF4-FFF2-40B4-BE49-F238E27FC236}">
                <a16:creationId xmlns:a16="http://schemas.microsoft.com/office/drawing/2014/main" id="{311ADD09-6392-4EDA-A858-FDEFE1B7DC13}"/>
              </a:ext>
            </a:extLst>
          </p:cNvPr>
          <p:cNvSpPr>
            <a:spLocks noGrp="1"/>
          </p:cNvSpPr>
          <p:nvPr/>
        </p:nvSpPr>
        <p:spPr>
          <a:xfrm>
            <a:off x="7867650" y="1857375"/>
            <a:ext cx="31432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· Mandater le pilote</a:t>
            </a:r>
          </a:p>
          <a:p>
            <a:pPr algn="ctr"/>
            <a:r>
              <a:rPr sz="1150">
                <a:solidFill>
                  <a:srgbClr val="243B53"/>
                </a:solidFill>
                <a:latin typeface="Arial"/>
                <a:ea typeface="Arial"/>
                <a:cs typeface="Arial"/>
              </a:rPr>
              <a:t>Périmètre, managers, durée, accompagnement et gouvernance à confirmer.</a:t>
            </a:r>
          </a:p>
        </p:txBody>
      </p:sp>
      <p:sp>
        <p:nvSpPr>
          <p:cNvPr id="13" name="deploy-arrow-1">
            <a:extLst>
              <a:ext uri="{FF2B5EF4-FFF2-40B4-BE49-F238E27FC236}">
                <a16:creationId xmlns:a16="http://schemas.microsoft.com/office/drawing/2014/main" id="{B02F9BF7-769E-4BA0-A987-C2C8F9B2CA30}"/>
              </a:ext>
            </a:extLst>
          </p:cNvPr>
          <p:cNvSpPr>
            <a:spLocks noGrp="1"/>
          </p:cNvSpPr>
          <p:nvPr/>
        </p:nvSpPr>
        <p:spPr>
          <a:xfrm>
            <a:off x="3857625" y="4400550"/>
            <a:ext cx="457200" cy="3429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4" name="deploy-arrow-2">
            <a:extLst>
              <a:ext uri="{FF2B5EF4-FFF2-40B4-BE49-F238E27FC236}">
                <a16:creationId xmlns:a16="http://schemas.microsoft.com/office/drawing/2014/main" id="{5BBD6973-41C8-4115-A870-0353FBB1828C}"/>
              </a:ext>
            </a:extLst>
          </p:cNvPr>
          <p:cNvSpPr>
            <a:spLocks noGrp="1"/>
          </p:cNvSpPr>
          <p:nvPr/>
        </p:nvSpPr>
        <p:spPr>
          <a:xfrm>
            <a:off x="7429500" y="4400550"/>
            <a:ext cx="457200" cy="342900"/>
          </a:xfrm>
          <a:prstGeom prst="rightArrow">
            <a:avLst/>
          </a:prstGeom>
          <a:solidFill>
            <a:srgbClr val="FFC400"/>
          </a:solidFill>
          <a:ln w="0">
            <a:solidFill>
              <a:srgbClr val="FFC400"/>
            </a:solidFill>
            <a:prstDash val="solid"/>
          </a:ln>
        </p:spPr>
      </p:sp>
      <p:sp>
        <p:nvSpPr>
          <p:cNvPr id="15" name="deployment-1">
            <a:extLst>
              <a:ext uri="{FF2B5EF4-FFF2-40B4-BE49-F238E27FC236}">
                <a16:creationId xmlns:a16="http://schemas.microsoft.com/office/drawing/2014/main" id="{DEB5E7AC-D06E-4F18-9BC8-EDC5E5074D14}"/>
              </a:ext>
            </a:extLst>
          </p:cNvPr>
          <p:cNvSpPr>
            <a:spLocks noGrp="1"/>
          </p:cNvSpPr>
          <p:nvPr/>
        </p:nvSpPr>
        <p:spPr>
          <a:xfrm>
            <a:off x="819150" y="3952875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Cadrage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Finaliser les règles, la fiche et les consignes managers.</a:t>
            </a:r>
          </a:p>
        </p:txBody>
      </p:sp>
      <p:sp>
        <p:nvSpPr>
          <p:cNvPr id="16" name="deployment-2">
            <a:extLst>
              <a:ext uri="{FF2B5EF4-FFF2-40B4-BE49-F238E27FC236}">
                <a16:creationId xmlns:a16="http://schemas.microsoft.com/office/drawing/2014/main" id="{FAC3C8AC-B690-4CC5-9FD1-D6D684007F47}"/>
              </a:ext>
            </a:extLst>
          </p:cNvPr>
          <p:cNvSpPr>
            <a:spLocks noGrp="1"/>
          </p:cNvSpPr>
          <p:nvPr/>
        </p:nvSpPr>
        <p:spPr>
          <a:xfrm>
            <a:off x="4343400" y="3952875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Pilote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Former, exécuter, observer l’usage et collecter les irritants.</a:t>
            </a:r>
          </a:p>
        </p:txBody>
      </p:sp>
      <p:sp>
        <p:nvSpPr>
          <p:cNvPr id="17" name="deployment-3">
            <a:extLst>
              <a:ext uri="{FF2B5EF4-FFF2-40B4-BE49-F238E27FC236}">
                <a16:creationId xmlns:a16="http://schemas.microsoft.com/office/drawing/2014/main" id="{FD7F7C32-9110-47D5-A22C-71FD5C36CC1B}"/>
              </a:ext>
            </a:extLst>
          </p:cNvPr>
          <p:cNvSpPr>
            <a:spLocks noGrp="1"/>
          </p:cNvSpPr>
          <p:nvPr/>
        </p:nvSpPr>
        <p:spPr>
          <a:xfrm>
            <a:off x="7867650" y="3952875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8D8"/>
          </a:solidFill>
          <a:ln w="9525">
            <a:solidFill>
              <a:srgbClr val="FFC400"/>
            </a:solidFill>
            <a:prstDash val="solid"/>
          </a:ln>
        </p:spPr>
        <p:txBody>
          <a:bodyPr wrap="square" lIns="114300" tIns="114300" rIns="114300" bIns="114300" anchor="ctr">
            <a:noAutofit/>
          </a:bodyPr>
          <a:lstStyle/>
          <a:p>
            <a:pPr algn="ctr">
              <a:spcAft>
                <a:spcPts val="6"/>
              </a:spcAft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Bilan / déploiement</a:t>
            </a:r>
          </a:p>
          <a:p>
            <a:pPr algn="ctr"/>
            <a:r>
              <a:rPr sz="1100">
                <a:solidFill>
                  <a:srgbClr val="243B53"/>
                </a:solidFill>
                <a:latin typeface="Arial"/>
                <a:ea typeface="Arial"/>
                <a:cs typeface="Arial"/>
              </a:rPr>
              <a:t>Mesurer, ajuster puis décider la généralisation.</a:t>
            </a:r>
          </a:p>
        </p:txBody>
      </p:sp>
      <p:sp>
        <p:nvSpPr>
          <p:cNvPr id="18" name="decision-request">
            <a:extLst>
              <a:ext uri="{FF2B5EF4-FFF2-40B4-BE49-F238E27FC236}">
                <a16:creationId xmlns:a16="http://schemas.microsoft.com/office/drawing/2014/main" id="{DEE2FBAE-3FFF-456F-9AC2-20858D1655F1}"/>
              </a:ext>
            </a:extLst>
          </p:cNvPr>
          <p:cNvSpPr>
            <a:spLocks noGrp="1"/>
          </p:cNvSpPr>
          <p:nvPr/>
        </p:nvSpPr>
        <p:spPr>
          <a:xfrm>
            <a:off x="2000250" y="5619750"/>
            <a:ext cx="8191500" cy="457200"/>
          </a:xfrm>
          <a:prstGeom prst="roundRect">
            <a:avLst>
              <a:gd name="adj" fmla="val 16667"/>
            </a:avLst>
          </a:prstGeom>
          <a:solidFill>
            <a:srgbClr val="FFF1F6"/>
          </a:solidFill>
          <a:ln w="9525">
            <a:solidFill>
              <a:srgbClr val="D5004F"/>
            </a:solidFill>
            <a:prstDash val="solid"/>
          </a:ln>
        </p:spPr>
        <p:txBody>
          <a:bodyPr wrap="square" lIns="114300" tIns="57150" rIns="114300" bIns="57150" anchor="ctr">
            <a:noAutofit/>
          </a:bodyPr>
          <a:lstStyle/>
          <a:p>
            <a:pPr algn="ctr">
              <a:defRPr sz="1350" b="1">
                <a:solidFill>
                  <a:srgbClr val="D50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5004F"/>
                </a:solidFill>
                <a:latin typeface="Arial"/>
                <a:ea typeface="Arial"/>
                <a:cs typeface="Arial"/>
              </a:rPr>
              <a:t>Décision attendue aujourd’hui : accord sur le principe, le support et la préparation du pilote.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White">
  <a:themeElements>
    <a:clrScheme name="EINEW1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515151"/>
      </a:accent1>
      <a:accent2>
        <a:srgbClr val="C00000"/>
      </a:accent2>
      <a:accent3>
        <a:srgbClr val="0089C8"/>
      </a:accent3>
      <a:accent4>
        <a:srgbClr val="FFC000"/>
      </a:accent4>
      <a:accent5>
        <a:srgbClr val="7F155F"/>
      </a:accent5>
      <a:accent6>
        <a:srgbClr val="00B050"/>
      </a:accent6>
      <a:hlink>
        <a:srgbClr val="002060"/>
      </a:hlink>
      <a:folHlink>
        <a:srgbClr val="C00000"/>
      </a:folHlink>
    </a:clrScheme>
    <a:fontScheme name="EI">
      <a:majorFont>
        <a:latin typeface="Segoe UI Semibold"/>
        <a:ea typeface=""/>
        <a:cs typeface=""/>
      </a:majorFont>
      <a:minorFont>
        <a:latin typeface="Segoe UI Light"/>
        <a:ea typeface=""/>
        <a:cs typeface=""/>
      </a:minorFont>
    </a:fontScheme>
    <a:fmtScheme name="EINEW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2496</Words>
  <Application>Microsoft Office PowerPoint</Application>
  <DocSecurity>0</DocSecurity>
  <PresentationFormat>Grand écran</PresentationFormat>
  <Paragraphs>338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Segoe UI Light</vt:lpstr>
      <vt:lpstr>Segoe UI Semibold</vt:lpstr>
      <vt:lpstr>Segoe UI Semilight</vt:lpstr>
      <vt:lpstr>Swis721 BT</vt:lpstr>
      <vt:lpstr>Swis721 BT Roman</vt:lpstr>
      <vt:lpstr>Thème Office</vt:lpstr>
      <vt:lpstr>2_White</vt:lpstr>
      <vt:lpstr>Processus de débrief Proposition de standardisation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Youssef</cp:lastModifiedBy>
  <cp:revision>4</cp:revision>
  <dcterms:created xsi:type="dcterms:W3CDTF">2026-08-19T17:42:45Z</dcterms:created>
  <dcterms:modified xsi:type="dcterms:W3CDTF">2026-08-19T18:07:31Z</dcterms:modified>
</cp:coreProperties>
</file>