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490" r:id="rId4"/>
    <p:sldId id="487" r:id="rId5"/>
    <p:sldId id="492" r:id="rId6"/>
    <p:sldId id="491" r:id="rId7"/>
    <p:sldId id="495" r:id="rId8"/>
    <p:sldId id="496" r:id="rId9"/>
    <p:sldId id="497" r:id="rId10"/>
    <p:sldId id="49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DC8AC-8595-42A7-9341-0B2128A96C8C}" type="datetimeFigureOut">
              <a:rPr lang="fr-FR" smtClean="0"/>
              <a:t>18/08/2026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4403C-0B84-4099-BF85-69531A738D2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4851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384CE-F196-4D23-B01E-AAA091FA7F4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732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384CE-F196-4D23-B01E-AAA091FA7F4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146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384CE-F196-4D23-B01E-AAA091FA7F4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732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384CE-F196-4D23-B01E-AAA091FA7F4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732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384CE-F196-4D23-B01E-AAA091FA7F4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732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E8DFAD-61B8-4112-9100-8BE68E5E9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6D7F17-273A-4A25-9CE5-E9182D5FB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731412-08FF-4ECD-913D-EFB609BA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982A27-E45D-48FF-A6C7-DA4B6D55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FBE5E0-15AC-408F-844E-CE22A57F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093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2B143C-3E36-4086-AECE-F76510BC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DD7CE1-88A7-4E0E-B35B-70951F6F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1FA740-B80C-45F1-A278-E0096677E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6824C5-9D39-4FBE-B87F-C1B6AD92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88F33D-D370-4A85-9AE5-8DDD0849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71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C599A0-CBDC-4034-B17B-75E0BB77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F065E6-8747-481B-B2E3-C2B70D200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C3C2B0-F0E0-4CE8-9521-6581B60A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E4969B-066E-49F1-962D-81124358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1A3084-1E06-4059-8DF0-5537434AD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5905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77AC8A-CFD4-432A-96B1-2BA6AE49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ADB96C-B748-4A54-A588-5699D0DBB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A09E25D-DFF9-4C60-A9FA-4512FB8FB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4BECE4-39E0-4F4C-B1A8-4ADA88764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ADDEC2-B6DD-42E8-B8EE-7677CEB00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02BF8FB-D2B5-4E44-AC91-D2CCB74C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82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C4146-672C-4877-BD1D-A6F47FDEE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1DF696-EB98-4AF5-98CE-96B57F44A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E099DB3-4BCD-463B-ADD3-F293FECAA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0DF75DA-C18D-4512-995C-0F0831F4D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162DC9-A4BB-4316-8823-8D0C53BB5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58CF6A-E979-4CFB-BF20-4FB924FA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3DD1ED-1881-4F02-A3F1-0740F4C5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789B135-4320-4997-8073-B502179F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696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2E5CB1-EB9D-41E6-A344-0F5A778B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4CF6FC3-C58C-4739-AC43-3F8142FE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EB8B205-CB6A-4F2F-9645-45766F69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A036CF-A89B-40B5-BF2F-FF57EA31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825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97FD0A4-AD85-4CB2-8200-614005C98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53B91D-A738-499D-B79E-38042E34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E6CB1F-EAE2-4D64-AC7F-63FEFEE6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00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3B634-64DC-4BDF-90B1-A3BD73E9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238E1F-3C1E-4FAE-A504-4EE76C493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BF34C1-56C5-44E3-94EB-3F174135D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B2F35A-11FE-4169-8666-E6FEA617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CFAEE0-A48E-449D-94C7-50A20CF0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9543DC-D024-4D1C-9CE0-63D5F719B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13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D9BDA9-CFAA-452F-B153-A69FC503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AD2D69-42A1-4A47-AD7B-897545FEA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FAC8FE-FB27-436E-9666-423D71FBA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B2FBAB-D76D-43EE-8088-BF115F2A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C03E28-1ECC-479B-B24C-64D07062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B579A5-EA29-4D65-8FED-41DD3EC21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858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952AE9-7F45-40DE-95B6-A5B46787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E6CEA9D-7FFF-444B-9244-EA1BB1E81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F2E915-EACF-4D9E-A8F6-DAD03E2D4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AD86EC-42DE-4E62-981C-04F355B3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386557-22FD-482C-92F6-08AEB4265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94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68FFE1A-365D-4E0E-BA23-89377EDF1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687883-5ED7-4C0E-BF0B-973B51591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417A62-5F0D-4C3A-A541-DC0DB150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34EE70-916C-4FA7-9773-B7D0F2BE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5E6B11-0199-4108-8005-C44ED30A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4494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re et sous-titre copie 5">
    <p:bg>
      <p:bgPr>
        <a:solidFill>
          <a:srgbClr val="003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écision 2"/>
          <p:cNvSpPr/>
          <p:nvPr/>
        </p:nvSpPr>
        <p:spPr>
          <a:xfrm>
            <a:off x="-8382" y="0"/>
            <a:ext cx="3328907" cy="6869154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7324 h 7324"/>
              <a:gd name="connsiteX1" fmla="*/ 0 w 10000"/>
              <a:gd name="connsiteY1" fmla="*/ 591 h 7324"/>
              <a:gd name="connsiteX2" fmla="*/ 5280 w 10000"/>
              <a:gd name="connsiteY2" fmla="*/ 0 h 7324"/>
              <a:gd name="connsiteX3" fmla="*/ 10000 w 10000"/>
              <a:gd name="connsiteY3" fmla="*/ 2324 h 7324"/>
              <a:gd name="connsiteX4" fmla="*/ 0 w 10000"/>
              <a:gd name="connsiteY4" fmla="*/ 7324 h 7324"/>
              <a:gd name="connsiteX0" fmla="*/ 0 w 10000"/>
              <a:gd name="connsiteY0" fmla="*/ 9348 h 9348"/>
              <a:gd name="connsiteX1" fmla="*/ 0 w 10000"/>
              <a:gd name="connsiteY1" fmla="*/ 155 h 9348"/>
              <a:gd name="connsiteX2" fmla="*/ 6284 w 10000"/>
              <a:gd name="connsiteY2" fmla="*/ 0 h 9348"/>
              <a:gd name="connsiteX3" fmla="*/ 10000 w 10000"/>
              <a:gd name="connsiteY3" fmla="*/ 2521 h 9348"/>
              <a:gd name="connsiteX4" fmla="*/ 0 w 10000"/>
              <a:gd name="connsiteY4" fmla="*/ 9348 h 9348"/>
              <a:gd name="connsiteX0" fmla="*/ 0 w 10000"/>
              <a:gd name="connsiteY0" fmla="*/ 10029 h 10029"/>
              <a:gd name="connsiteX1" fmla="*/ 0 w 10000"/>
              <a:gd name="connsiteY1" fmla="*/ 0 h 10029"/>
              <a:gd name="connsiteX2" fmla="*/ 6284 w 10000"/>
              <a:gd name="connsiteY2" fmla="*/ 29 h 10029"/>
              <a:gd name="connsiteX3" fmla="*/ 10000 w 10000"/>
              <a:gd name="connsiteY3" fmla="*/ 2726 h 10029"/>
              <a:gd name="connsiteX4" fmla="*/ 0 w 10000"/>
              <a:gd name="connsiteY4" fmla="*/ 10029 h 10029"/>
              <a:gd name="connsiteX0" fmla="*/ 0 w 10000"/>
              <a:gd name="connsiteY0" fmla="*/ 10000 h 10000"/>
              <a:gd name="connsiteX1" fmla="*/ 0 w 10000"/>
              <a:gd name="connsiteY1" fmla="*/ 41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 w 10000"/>
              <a:gd name="connsiteY1" fmla="*/ 6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9994 h 9994"/>
              <a:gd name="connsiteX1" fmla="*/ 20 w 10000"/>
              <a:gd name="connsiteY1" fmla="*/ 0 h 9994"/>
              <a:gd name="connsiteX2" fmla="*/ 6284 w 10000"/>
              <a:gd name="connsiteY2" fmla="*/ 0 h 9994"/>
              <a:gd name="connsiteX3" fmla="*/ 10000 w 10000"/>
              <a:gd name="connsiteY3" fmla="*/ 2691 h 9994"/>
              <a:gd name="connsiteX4" fmla="*/ 0 w 10000"/>
              <a:gd name="connsiteY4" fmla="*/ 9994 h 9994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3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0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9992"/>
              <a:gd name="connsiteY0" fmla="*/ 10003 h 10003"/>
              <a:gd name="connsiteX1" fmla="*/ 13 w 9992"/>
              <a:gd name="connsiteY1" fmla="*/ 0 h 10003"/>
              <a:gd name="connsiteX2" fmla="*/ 6284 w 9992"/>
              <a:gd name="connsiteY2" fmla="*/ 0 h 10003"/>
              <a:gd name="connsiteX3" fmla="*/ 9992 w 9992"/>
              <a:gd name="connsiteY3" fmla="*/ 2700 h 10003"/>
              <a:gd name="connsiteX4" fmla="*/ 0 w 9992"/>
              <a:gd name="connsiteY4" fmla="*/ 10003 h 10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2" h="10003">
                <a:moveTo>
                  <a:pt x="0" y="10003"/>
                </a:moveTo>
                <a:cubicBezTo>
                  <a:pt x="7" y="6670"/>
                  <a:pt x="6" y="3333"/>
                  <a:pt x="13" y="0"/>
                </a:cubicBezTo>
                <a:lnTo>
                  <a:pt x="6284" y="0"/>
                </a:lnTo>
                <a:lnTo>
                  <a:pt x="9992" y="2700"/>
                </a:lnTo>
                <a:lnTo>
                  <a:pt x="0" y="10003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fr-FR" sz="1600" dirty="0">
              <a:solidFill>
                <a:schemeClr val="bg1"/>
              </a:solidFill>
              <a:latin typeface="Swis721 BT Roman" charset="0"/>
              <a:ea typeface="Swis721 BT Roman" charset="0"/>
              <a:cs typeface="Swis721 BT Roman" charset="0"/>
            </a:endParaRPr>
          </a:p>
        </p:txBody>
      </p:sp>
      <p:sp>
        <p:nvSpPr>
          <p:cNvPr id="15" name="Décision 2"/>
          <p:cNvSpPr/>
          <p:nvPr/>
        </p:nvSpPr>
        <p:spPr>
          <a:xfrm flipH="1">
            <a:off x="10756747" y="2559242"/>
            <a:ext cx="1427356" cy="4288970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0" h="10000">
                <a:moveTo>
                  <a:pt x="0" y="10000"/>
                </a:moveTo>
                <a:lnTo>
                  <a:pt x="0" y="0"/>
                </a:lnTo>
                <a:lnTo>
                  <a:pt x="5000" y="5000"/>
                </a:lnTo>
                <a:lnTo>
                  <a:pt x="0" y="10000"/>
                </a:lnTo>
                <a:close/>
              </a:path>
            </a:pathLst>
          </a:custGeom>
          <a:solidFill>
            <a:srgbClr val="E7473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fr-FR" sz="1600" dirty="0">
              <a:solidFill>
                <a:schemeClr val="bg1"/>
              </a:solidFill>
              <a:latin typeface="Swis721 BT Roman" charset="0"/>
              <a:ea typeface="Swis721 BT Roman" charset="0"/>
              <a:cs typeface="Swis721 BT Roman" charset="0"/>
            </a:endParaRPr>
          </a:p>
        </p:txBody>
      </p:sp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xfrm>
            <a:off x="3625148" y="288713"/>
            <a:ext cx="8303812" cy="2874104"/>
          </a:xfrm>
          <a:prstGeom prst="rect">
            <a:avLst/>
          </a:prstGeom>
        </p:spPr>
        <p:txBody>
          <a:bodyPr/>
          <a:lstStyle>
            <a:lvl1pPr>
              <a:defRPr sz="4300" b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940983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/>
          </p:cNvSpPr>
          <p:nvPr>
            <p:ph type="pic" sz="quarter" idx="13"/>
          </p:nvPr>
        </p:nvSpPr>
        <p:spPr>
          <a:xfrm>
            <a:off x="6247804" y="3580805"/>
            <a:ext cx="3750469" cy="26521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fr-FR" dirty="0"/>
              <a:t>Cliquez sur l'icône pour ajouter une image</a:t>
            </a:r>
            <a:endParaRPr dirty="0"/>
          </a:p>
        </p:txBody>
      </p:sp>
      <p:sp>
        <p:nvSpPr>
          <p:cNvPr id="157" name="Shape 157"/>
          <p:cNvSpPr>
            <a:spLocks noGrp="1"/>
          </p:cNvSpPr>
          <p:nvPr>
            <p:ph type="pic" sz="quarter" idx="14"/>
          </p:nvPr>
        </p:nvSpPr>
        <p:spPr>
          <a:xfrm>
            <a:off x="6252177" y="625078"/>
            <a:ext cx="3750470" cy="26521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fr-FR" dirty="0"/>
              <a:t>Cliquez sur l'icône pour ajouter une image</a:t>
            </a:r>
            <a:endParaRPr dirty="0"/>
          </a:p>
        </p:txBody>
      </p:sp>
      <p:sp>
        <p:nvSpPr>
          <p:cNvPr id="158" name="Shape 158"/>
          <p:cNvSpPr>
            <a:spLocks noGrp="1"/>
          </p:cNvSpPr>
          <p:nvPr>
            <p:ph type="pic" sz="half" idx="15"/>
          </p:nvPr>
        </p:nvSpPr>
        <p:spPr>
          <a:xfrm>
            <a:off x="2193727" y="625078"/>
            <a:ext cx="3750469" cy="560784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fr-FR" dirty="0"/>
              <a:t>Cliquez sur l'icône pour ajouter une image</a:t>
            </a:r>
            <a:endParaRPr dirty="0"/>
          </a:p>
        </p:txBody>
      </p:sp>
      <p:sp>
        <p:nvSpPr>
          <p:cNvPr id="159" name="Shape 159"/>
          <p:cNvSpPr>
            <a:spLocks noGrp="1"/>
          </p:cNvSpPr>
          <p:nvPr>
            <p:ph type="sldNum" sz="quarter" idx="2"/>
          </p:nvPr>
        </p:nvSpPr>
        <p:spPr>
          <a:xfrm>
            <a:off x="216000" y="6559200"/>
            <a:ext cx="408765" cy="328935"/>
          </a:xfrm>
          <a:prstGeom prst="rect">
            <a:avLst/>
          </a:prstGeom>
        </p:spPr>
        <p:txBody>
          <a:bodyPr wrap="none"/>
          <a:lstStyle>
            <a:lvl1pPr algn="ctr"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pPr algn="l"/>
            <a:fld id="{86CB4B4D-7CA3-9044-876B-883B54F8677D}" type="slidenum">
              <a:rPr lang="fr-FR" smtClean="0"/>
              <a:pPr algn="l"/>
              <a:t>‹N°›</a:t>
            </a:fld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6907" y="5843449"/>
            <a:ext cx="938975" cy="88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9153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A831B-1FFC-4494-94B4-4E775F577D7C}" type="datetimeFigureOut">
              <a:rPr lang="fr-FR" smtClean="0"/>
              <a:t>18/08/2026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6FEA-8CB9-41FA-B479-EAB77352D1BB}" type="slidenum">
              <a:rPr lang="fr-FR" smtClean="0"/>
              <a:t>‹N°›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856" y="177800"/>
            <a:ext cx="1527132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22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34F151-4B48-4443-96A6-94BCEE24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7F2EF7-1C78-42C0-A2DA-CDE78A63E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92D337-6994-4BB7-B539-7C3D4A2B3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D1414-9412-4262-86EC-F84159795351}" type="datetimeFigureOut">
              <a:rPr lang="fr-FR" smtClean="0"/>
              <a:t>17/08/2026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25DEF3-9497-4BA5-97A4-7A3818913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A4953D-CA2C-4966-9748-DBA872252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5B622-B1A1-4656-A09D-B41DAC812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95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712096" y="893"/>
            <a:ext cx="11289404" cy="1079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rPr dirty="0" err="1"/>
              <a:t>Texte</a:t>
            </a:r>
            <a:r>
              <a:rPr dirty="0"/>
              <a:t> du </a:t>
            </a:r>
            <a:r>
              <a:rPr dirty="0" err="1"/>
              <a:t>titre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712096" y="1163278"/>
            <a:ext cx="11013886" cy="5193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>
            <a:normAutofit/>
          </a:bodyPr>
          <a:lstStyle>
            <a:lvl2pPr marL="860627" indent="-416127">
              <a:buClr>
                <a:srgbClr val="E7473D"/>
              </a:buClr>
              <a:buSzPct val="100000"/>
              <a:buChar char="▪"/>
              <a:defRPr sz="4200">
                <a:solidFill>
                  <a:srgbClr val="000000"/>
                </a:solidFill>
              </a:defRPr>
            </a:lvl2pPr>
            <a:lvl3pPr marL="1270000" indent="-381000">
              <a:spcBef>
                <a:spcPts val="1000"/>
              </a:spcBef>
              <a:buClr>
                <a:srgbClr val="A6AAA9"/>
              </a:buClr>
              <a:buSzPct val="100000"/>
              <a:buChar char="▪"/>
              <a:defRPr sz="4100">
                <a:solidFill>
                  <a:srgbClr val="53585F"/>
                </a:solidFill>
              </a:defRPr>
            </a:lvl3pPr>
            <a:lvl4pPr marL="1651000" indent="-317500">
              <a:spcBef>
                <a:spcPts val="500"/>
              </a:spcBef>
              <a:buClr>
                <a:srgbClr val="A6AAA9"/>
              </a:buClr>
              <a:buChar char="▪"/>
              <a:defRPr sz="3600">
                <a:solidFill>
                  <a:srgbClr val="53585F"/>
                </a:solidFill>
              </a:defRPr>
            </a:lvl4pPr>
            <a:lvl5pPr marL="2095500" indent="-317500">
              <a:spcBef>
                <a:spcPts val="500"/>
              </a:spcBef>
              <a:buClr>
                <a:srgbClr val="A6AAA9"/>
              </a:buClr>
              <a:buChar char="▪"/>
              <a:defRPr sz="3600">
                <a:solidFill>
                  <a:srgbClr val="53585F"/>
                </a:solidFill>
              </a:defRPr>
            </a:lvl5pPr>
          </a:lstStyle>
          <a:p>
            <a:r>
              <a:rPr dirty="0"/>
              <a:t>Texte niveau 1</a:t>
            </a:r>
          </a:p>
          <a:p>
            <a:pPr lvl="1"/>
            <a:r>
              <a:rPr dirty="0"/>
              <a:t>Texte niveau 2</a:t>
            </a:r>
          </a:p>
          <a:p>
            <a:pPr lvl="2"/>
            <a:r>
              <a:rPr dirty="0"/>
              <a:t>Texte niveau 3</a:t>
            </a:r>
          </a:p>
          <a:p>
            <a:pPr lvl="3"/>
            <a:r>
              <a:rPr dirty="0"/>
              <a:t>Texte niveau 4</a:t>
            </a:r>
          </a:p>
          <a:p>
            <a:pPr lvl="4"/>
            <a:r>
              <a:rPr dirty="0"/>
              <a:t>Texte niveau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216000" y="6559200"/>
            <a:ext cx="404978" cy="328935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>
            <a:spAutoFit/>
          </a:bodyPr>
          <a:lstStyle>
            <a:lvl1pPr algn="l">
              <a:defRPr sz="1200">
                <a:solidFill>
                  <a:srgbClr val="666565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  <a:sym typeface="Swis721 BT"/>
              </a:defRPr>
            </a:lvl1pPr>
          </a:lstStyle>
          <a:p>
            <a:fld id="{86CB4B4D-7CA3-9044-876B-883B54F8677D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Décision 2"/>
          <p:cNvSpPr/>
          <p:nvPr/>
        </p:nvSpPr>
        <p:spPr>
          <a:xfrm>
            <a:off x="973" y="-120"/>
            <a:ext cx="700630" cy="1597854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7324 h 7324"/>
              <a:gd name="connsiteX1" fmla="*/ 0 w 10000"/>
              <a:gd name="connsiteY1" fmla="*/ 591 h 7324"/>
              <a:gd name="connsiteX2" fmla="*/ 5280 w 10000"/>
              <a:gd name="connsiteY2" fmla="*/ 0 h 7324"/>
              <a:gd name="connsiteX3" fmla="*/ 10000 w 10000"/>
              <a:gd name="connsiteY3" fmla="*/ 2324 h 7324"/>
              <a:gd name="connsiteX4" fmla="*/ 0 w 10000"/>
              <a:gd name="connsiteY4" fmla="*/ 7324 h 7324"/>
              <a:gd name="connsiteX0" fmla="*/ 0 w 10000"/>
              <a:gd name="connsiteY0" fmla="*/ 9348 h 9348"/>
              <a:gd name="connsiteX1" fmla="*/ 0 w 10000"/>
              <a:gd name="connsiteY1" fmla="*/ 155 h 9348"/>
              <a:gd name="connsiteX2" fmla="*/ 6284 w 10000"/>
              <a:gd name="connsiteY2" fmla="*/ 0 h 9348"/>
              <a:gd name="connsiteX3" fmla="*/ 10000 w 10000"/>
              <a:gd name="connsiteY3" fmla="*/ 2521 h 9348"/>
              <a:gd name="connsiteX4" fmla="*/ 0 w 10000"/>
              <a:gd name="connsiteY4" fmla="*/ 9348 h 9348"/>
              <a:gd name="connsiteX0" fmla="*/ 0 w 10000"/>
              <a:gd name="connsiteY0" fmla="*/ 10029 h 10029"/>
              <a:gd name="connsiteX1" fmla="*/ 0 w 10000"/>
              <a:gd name="connsiteY1" fmla="*/ 0 h 10029"/>
              <a:gd name="connsiteX2" fmla="*/ 6284 w 10000"/>
              <a:gd name="connsiteY2" fmla="*/ 29 h 10029"/>
              <a:gd name="connsiteX3" fmla="*/ 10000 w 10000"/>
              <a:gd name="connsiteY3" fmla="*/ 2726 h 10029"/>
              <a:gd name="connsiteX4" fmla="*/ 0 w 10000"/>
              <a:gd name="connsiteY4" fmla="*/ 10029 h 10029"/>
              <a:gd name="connsiteX0" fmla="*/ 0 w 10000"/>
              <a:gd name="connsiteY0" fmla="*/ 10000 h 10000"/>
              <a:gd name="connsiteX1" fmla="*/ 0 w 10000"/>
              <a:gd name="connsiteY1" fmla="*/ 41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 w 10000"/>
              <a:gd name="connsiteY1" fmla="*/ 6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9994 h 9994"/>
              <a:gd name="connsiteX1" fmla="*/ 20 w 10000"/>
              <a:gd name="connsiteY1" fmla="*/ 0 h 9994"/>
              <a:gd name="connsiteX2" fmla="*/ 6284 w 10000"/>
              <a:gd name="connsiteY2" fmla="*/ 0 h 9994"/>
              <a:gd name="connsiteX3" fmla="*/ 10000 w 10000"/>
              <a:gd name="connsiteY3" fmla="*/ 2691 h 9994"/>
              <a:gd name="connsiteX4" fmla="*/ 0 w 10000"/>
              <a:gd name="connsiteY4" fmla="*/ 9994 h 9994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3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0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9992"/>
              <a:gd name="connsiteY0" fmla="*/ 10003 h 10003"/>
              <a:gd name="connsiteX1" fmla="*/ 13 w 9992"/>
              <a:gd name="connsiteY1" fmla="*/ 0 h 10003"/>
              <a:gd name="connsiteX2" fmla="*/ 6284 w 9992"/>
              <a:gd name="connsiteY2" fmla="*/ 0 h 10003"/>
              <a:gd name="connsiteX3" fmla="*/ 9992 w 9992"/>
              <a:gd name="connsiteY3" fmla="*/ 2700 h 10003"/>
              <a:gd name="connsiteX4" fmla="*/ 0 w 9992"/>
              <a:gd name="connsiteY4" fmla="*/ 10003 h 10003"/>
              <a:gd name="connsiteX0" fmla="*/ 0 w 10000"/>
              <a:gd name="connsiteY0" fmla="*/ 11065 h 11065"/>
              <a:gd name="connsiteX1" fmla="*/ 13 w 10000"/>
              <a:gd name="connsiteY1" fmla="*/ 1065 h 11065"/>
              <a:gd name="connsiteX2" fmla="*/ 4815 w 10000"/>
              <a:gd name="connsiteY2" fmla="*/ 0 h 11065"/>
              <a:gd name="connsiteX3" fmla="*/ 10000 w 10000"/>
              <a:gd name="connsiteY3" fmla="*/ 3764 h 11065"/>
              <a:gd name="connsiteX4" fmla="*/ 0 w 10000"/>
              <a:gd name="connsiteY4" fmla="*/ 11065 h 11065"/>
              <a:gd name="connsiteX0" fmla="*/ 0 w 10000"/>
              <a:gd name="connsiteY0" fmla="*/ 11065 h 11065"/>
              <a:gd name="connsiteX1" fmla="*/ 13 w 10000"/>
              <a:gd name="connsiteY1" fmla="*/ 14 h 11065"/>
              <a:gd name="connsiteX2" fmla="*/ 4815 w 10000"/>
              <a:gd name="connsiteY2" fmla="*/ 0 h 11065"/>
              <a:gd name="connsiteX3" fmla="*/ 10000 w 10000"/>
              <a:gd name="connsiteY3" fmla="*/ 3764 h 11065"/>
              <a:gd name="connsiteX4" fmla="*/ 0 w 10000"/>
              <a:gd name="connsiteY4" fmla="*/ 11065 h 11065"/>
              <a:gd name="connsiteX0" fmla="*/ 0 w 10000"/>
              <a:gd name="connsiteY0" fmla="*/ 11065 h 11065"/>
              <a:gd name="connsiteX1" fmla="*/ 43 w 10000"/>
              <a:gd name="connsiteY1" fmla="*/ 14 h 11065"/>
              <a:gd name="connsiteX2" fmla="*/ 4815 w 10000"/>
              <a:gd name="connsiteY2" fmla="*/ 0 h 11065"/>
              <a:gd name="connsiteX3" fmla="*/ 10000 w 10000"/>
              <a:gd name="connsiteY3" fmla="*/ 3764 h 11065"/>
              <a:gd name="connsiteX4" fmla="*/ 0 w 10000"/>
              <a:gd name="connsiteY4" fmla="*/ 11065 h 11065"/>
              <a:gd name="connsiteX0" fmla="*/ 0 w 10000"/>
              <a:gd name="connsiteY0" fmla="*/ 11066 h 11066"/>
              <a:gd name="connsiteX1" fmla="*/ 73 w 10000"/>
              <a:gd name="connsiteY1" fmla="*/ 0 h 11066"/>
              <a:gd name="connsiteX2" fmla="*/ 4815 w 10000"/>
              <a:gd name="connsiteY2" fmla="*/ 1 h 11066"/>
              <a:gd name="connsiteX3" fmla="*/ 10000 w 10000"/>
              <a:gd name="connsiteY3" fmla="*/ 3765 h 11066"/>
              <a:gd name="connsiteX4" fmla="*/ 0 w 10000"/>
              <a:gd name="connsiteY4" fmla="*/ 11066 h 11066"/>
              <a:gd name="connsiteX0" fmla="*/ 0 w 10000"/>
              <a:gd name="connsiteY0" fmla="*/ 11066 h 11066"/>
              <a:gd name="connsiteX1" fmla="*/ 13 w 10000"/>
              <a:gd name="connsiteY1" fmla="*/ 0 h 11066"/>
              <a:gd name="connsiteX2" fmla="*/ 4815 w 10000"/>
              <a:gd name="connsiteY2" fmla="*/ 1 h 11066"/>
              <a:gd name="connsiteX3" fmla="*/ 10000 w 10000"/>
              <a:gd name="connsiteY3" fmla="*/ 3765 h 11066"/>
              <a:gd name="connsiteX4" fmla="*/ 0 w 10000"/>
              <a:gd name="connsiteY4" fmla="*/ 11066 h 1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1066">
                <a:moveTo>
                  <a:pt x="0" y="11066"/>
                </a:moveTo>
                <a:cubicBezTo>
                  <a:pt x="7" y="7734"/>
                  <a:pt x="6" y="3332"/>
                  <a:pt x="13" y="0"/>
                </a:cubicBezTo>
                <a:lnTo>
                  <a:pt x="4815" y="1"/>
                </a:lnTo>
                <a:lnTo>
                  <a:pt x="10000" y="3765"/>
                </a:lnTo>
                <a:lnTo>
                  <a:pt x="0" y="11066"/>
                </a:lnTo>
                <a:close/>
              </a:path>
            </a:pathLst>
          </a:custGeom>
          <a:solidFill>
            <a:srgbClr val="E7473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fr-FR" sz="1600" dirty="0">
              <a:solidFill>
                <a:schemeClr val="bg1"/>
              </a:solidFill>
              <a:latin typeface="Swis721 BT Roman" charset="0"/>
              <a:ea typeface="Swis721 BT Roman" charset="0"/>
              <a:cs typeface="Swis721 BT Roman" charset="0"/>
            </a:endParaRPr>
          </a:p>
        </p:txBody>
      </p:sp>
      <p:sp>
        <p:nvSpPr>
          <p:cNvPr id="10" name="Décision 2"/>
          <p:cNvSpPr/>
          <p:nvPr/>
        </p:nvSpPr>
        <p:spPr>
          <a:xfrm>
            <a:off x="972" y="6524537"/>
            <a:ext cx="120668" cy="333463"/>
          </a:xfrm>
          <a:custGeom>
            <a:avLst/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0" h="10000">
                <a:moveTo>
                  <a:pt x="0" y="10000"/>
                </a:moveTo>
                <a:lnTo>
                  <a:pt x="0" y="0"/>
                </a:lnTo>
                <a:lnTo>
                  <a:pt x="5000" y="5000"/>
                </a:lnTo>
                <a:lnTo>
                  <a:pt x="0" y="10000"/>
                </a:lnTo>
                <a:close/>
              </a:path>
            </a:pathLst>
          </a:custGeom>
          <a:solidFill>
            <a:srgbClr val="003A8D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9" tIns="35719" rIns="35719" bIns="35719" numCol="1" spcCol="3810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fr-FR" sz="1600" dirty="0">
              <a:solidFill>
                <a:schemeClr val="bg1"/>
              </a:solidFill>
              <a:latin typeface="Swis721 BT Roman" charset="0"/>
              <a:ea typeface="Swis721 BT Roman" charset="0"/>
              <a:cs typeface="Swis721 BT Roman" charset="0"/>
            </a:endParaRPr>
          </a:p>
        </p:txBody>
      </p:sp>
      <p:sp>
        <p:nvSpPr>
          <p:cNvPr id="7" name="Rectangle 6"/>
          <p:cNvSpPr>
            <a:spLocks noChangeAspect="1" noChangeArrowheads="1"/>
          </p:cNvSpPr>
          <p:nvPr/>
        </p:nvSpPr>
        <p:spPr bwMode="auto">
          <a:xfrm>
            <a:off x="9103583" y="5191125"/>
            <a:ext cx="972000" cy="9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86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med"/>
  <p:hf hdr="0" ftr="0" dt="0"/>
  <p:txStyles>
    <p:titleStyle>
      <a:lvl1pPr marL="0" marR="0" indent="0" algn="l" defTabSz="2921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ln>
            <a:noFill/>
          </a:ln>
          <a:solidFill>
            <a:srgbClr val="013A8D"/>
          </a:solidFill>
          <a:uFillTx/>
          <a:latin typeface="Segoe UI Light" panose="020B0502040204020203" pitchFamily="34" charset="0"/>
          <a:ea typeface="Segoe UI Light" panose="020B0502040204020203" pitchFamily="34" charset="0"/>
          <a:cs typeface="Segoe UI Light" panose="020B0502040204020203" pitchFamily="34" charset="0"/>
          <a:sym typeface="Swis721 BT"/>
        </a:defRPr>
      </a:lvl1pPr>
      <a:lvl2pPr marL="0" marR="0" indent="114300" algn="l" defTabSz="2921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2pPr>
      <a:lvl3pPr marL="0" marR="0" indent="228600" algn="l" defTabSz="2921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3pPr>
      <a:lvl4pPr marL="0" marR="0" indent="342900" algn="l" defTabSz="2921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4pPr>
      <a:lvl5pPr marL="0" marR="0" indent="457200" algn="l" defTabSz="2921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5pPr>
      <a:lvl6pPr marL="0" marR="0" indent="571500" algn="l" defTabSz="2921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6pPr>
      <a:lvl7pPr marL="0" marR="0" indent="685800" algn="l" defTabSz="2921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7pPr>
      <a:lvl8pPr marL="0" marR="0" indent="800100" algn="l" defTabSz="2921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8pPr>
      <a:lvl9pPr marL="0" marR="0" indent="914400" algn="l" defTabSz="2921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1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9pPr>
    </p:titleStyle>
    <p:bodyStyle>
      <a:lvl1pPr marL="0" marR="0" indent="0" algn="l" defTabSz="292100" eaLnBrk="1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ln>
            <a:noFill/>
          </a:ln>
          <a:solidFill>
            <a:srgbClr val="013A8D"/>
          </a:solidFill>
          <a:uFillTx/>
          <a:latin typeface="+mj-lt"/>
          <a:ea typeface="Segoe UI Light" panose="020B0502040204020203" pitchFamily="34" charset="0"/>
          <a:cs typeface="Segoe UI Light" panose="020B0502040204020203" pitchFamily="34" charset="0"/>
          <a:sym typeface="Swis721 BT"/>
        </a:defRPr>
      </a:lvl1pPr>
      <a:lvl2pPr marL="518583" marR="0" indent="-296333" algn="l" defTabSz="292100" eaLnBrk="1" latinLnBrk="0" hangingPunct="1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rgbClr val="003A8D"/>
          </a:solidFill>
          <a:uFillTx/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  <a:sym typeface="Swis721 BT"/>
        </a:defRPr>
      </a:lvl2pPr>
      <a:lvl3pPr marL="740833" marR="0" indent="-296333" algn="l" defTabSz="292100" eaLnBrk="1" latinLnBrk="0" hangingPunct="1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accent1">
              <a:lumMod val="75000"/>
            </a:schemeClr>
          </a:solidFill>
          <a:uFillTx/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  <a:sym typeface="Swis721 BT"/>
        </a:defRPr>
      </a:lvl3pPr>
      <a:lvl4pPr marL="963083" marR="0" indent="-296333" algn="l" defTabSz="292100" eaLnBrk="1" latinLnBrk="0" hangingPunct="1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tabLst/>
        <a:defRPr sz="1600" b="0" i="0" u="none" strike="noStrike" cap="none" spc="0" baseline="0">
          <a:ln>
            <a:noFill/>
          </a:ln>
          <a:solidFill>
            <a:srgbClr val="013A8D"/>
          </a:solidFill>
          <a:uFillTx/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  <a:sym typeface="Swis721 BT"/>
        </a:defRPr>
      </a:lvl4pPr>
      <a:lvl5pPr marL="1185333" marR="0" indent="-296333" algn="l" defTabSz="292100" eaLnBrk="1" latinLnBrk="0" hangingPunct="1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tabLst/>
        <a:defRPr sz="1600" b="0" i="0" u="none" strike="noStrike" cap="none" spc="0" baseline="0">
          <a:ln>
            <a:noFill/>
          </a:ln>
          <a:solidFill>
            <a:srgbClr val="013A8D"/>
          </a:solidFill>
          <a:uFillTx/>
          <a:latin typeface="Segoe UI Semilight" panose="020B0402040204020203" pitchFamily="34" charset="0"/>
          <a:ea typeface="Segoe UI Semilight" panose="020B0402040204020203" pitchFamily="34" charset="0"/>
          <a:cs typeface="Segoe UI Semilight" panose="020B0402040204020203" pitchFamily="34" charset="0"/>
          <a:sym typeface="Swis721 BT"/>
        </a:defRPr>
      </a:lvl5pPr>
      <a:lvl6pPr marL="1407583" marR="0" indent="-296333" algn="l" defTabSz="292100" eaLnBrk="1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6pPr>
      <a:lvl7pPr marL="1629833" marR="0" indent="-296333" algn="l" defTabSz="292100" eaLnBrk="1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7pPr>
      <a:lvl8pPr marL="1852083" marR="0" indent="-296333" algn="l" defTabSz="292100" eaLnBrk="1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8pPr>
      <a:lvl9pPr marL="2074333" marR="0" indent="-296333" algn="l" defTabSz="292100" eaLnBrk="1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tabLst/>
        <a:defRPr sz="2400" b="0" i="0" u="none" strike="noStrike" cap="none" spc="0" baseline="0">
          <a:ln>
            <a:noFill/>
          </a:ln>
          <a:solidFill>
            <a:srgbClr val="013A8D"/>
          </a:solidFill>
          <a:uFillTx/>
          <a:latin typeface="Swis721 BT"/>
          <a:ea typeface="Swis721 BT"/>
          <a:cs typeface="Swis721 BT"/>
          <a:sym typeface="Swis721 BT"/>
        </a:defRPr>
      </a:lvl9pPr>
    </p:bodyStyle>
    <p:otherStyle>
      <a:lvl1pPr marL="0" marR="0" indent="0" algn="l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wis721 BT"/>
        </a:defRPr>
      </a:lvl1pPr>
      <a:lvl2pPr marL="0" marR="0" indent="114300" algn="l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wis721 BT"/>
        </a:defRPr>
      </a:lvl2pPr>
      <a:lvl3pPr marL="0" marR="0" indent="228600" algn="l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wis721 BT"/>
        </a:defRPr>
      </a:lvl3pPr>
      <a:lvl4pPr marL="0" marR="0" indent="342900" algn="l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wis721 BT"/>
        </a:defRPr>
      </a:lvl4pPr>
      <a:lvl5pPr marL="0" marR="0" indent="457200" algn="l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wis721 BT"/>
        </a:defRPr>
      </a:lvl5pPr>
      <a:lvl6pPr marL="0" marR="0" indent="571500" algn="l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wis721 BT"/>
        </a:defRPr>
      </a:lvl6pPr>
      <a:lvl7pPr marL="0" marR="0" indent="685800" algn="l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wis721 BT"/>
        </a:defRPr>
      </a:lvl7pPr>
      <a:lvl8pPr marL="0" marR="0" indent="800100" algn="l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wis721 BT"/>
        </a:defRPr>
      </a:lvl8pPr>
      <a:lvl9pPr marL="0" marR="0" indent="914400" algn="l" defTabSz="2921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wis721 B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162877-7165-4CA0-9737-CD5713BB4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52799"/>
            <a:ext cx="9144000" cy="1548301"/>
          </a:xfrm>
          <a:solidFill>
            <a:schemeClr val="accent2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txBody>
          <a:bodyPr>
            <a:noAutofit/>
          </a:bodyPr>
          <a:lstStyle/>
          <a:p>
            <a:r>
              <a:rPr lang="fr-FR" sz="96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Débriefe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A8F88CF-B4C2-4A81-AD8D-97BA52715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0" y="0"/>
            <a:ext cx="2243667" cy="149577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9047C2D-50BD-418E-84DF-02911136B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7133" y="0"/>
            <a:ext cx="2954867" cy="157744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C939A52-B80F-4C0C-B1BA-CE7D3FB43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67425"/>
            <a:ext cx="1441279" cy="790575"/>
          </a:xfrm>
          <a:prstGeom prst="rect">
            <a:avLst/>
          </a:prstGeom>
        </p:spPr>
      </p:pic>
      <p:sp>
        <p:nvSpPr>
          <p:cNvPr id="7" name="Parchemin : horizontal 6">
            <a:extLst>
              <a:ext uri="{FF2B5EF4-FFF2-40B4-BE49-F238E27FC236}">
                <a16:creationId xmlns:a16="http://schemas.microsoft.com/office/drawing/2014/main" id="{6256A075-571B-47A8-9821-2A94804A50C1}"/>
              </a:ext>
            </a:extLst>
          </p:cNvPr>
          <p:cNvSpPr/>
          <p:nvPr/>
        </p:nvSpPr>
        <p:spPr>
          <a:xfrm>
            <a:off x="9439276" y="5972175"/>
            <a:ext cx="2752724" cy="882773"/>
          </a:xfrm>
          <a:prstGeom prst="horizontalScroll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FF0000"/>
                </a:solidFill>
              </a:rPr>
              <a:t>Par : BELRHITI HAJAR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F2803E3-5D7B-4BA5-BBF3-25E89B4522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867400"/>
            <a:ext cx="1070502" cy="98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23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E36FEA-8CB9-41FA-B479-EAB77352D1B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666565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  <a:sym typeface="Swis721 BT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srgbClr val="666565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  <a:sym typeface="Swis721 BT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75C0BB2-2DA1-4CDA-A268-A0879C24846C}"/>
              </a:ext>
            </a:extLst>
          </p:cNvPr>
          <p:cNvSpPr txBox="1">
            <a:spLocks/>
          </p:cNvSpPr>
          <p:nvPr/>
        </p:nvSpPr>
        <p:spPr>
          <a:xfrm>
            <a:off x="717450" y="523875"/>
            <a:ext cx="11258550" cy="65151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marR="0" indent="0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+mj-lt"/>
                <a:ea typeface="Segoe UI Light" panose="020B0502040204020203" pitchFamily="34" charset="0"/>
                <a:cs typeface="Segoe UI Light" panose="020B0502040204020203" pitchFamily="34" charset="0"/>
                <a:sym typeface="Swis721 BT"/>
              </a:defRPr>
            </a:lvl1pPr>
            <a:lvl2pPr marL="51858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rgbClr val="00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2pPr>
            <a:lvl3pPr marL="74083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3pPr>
            <a:lvl4pPr marL="96308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6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4pPr>
            <a:lvl5pPr marL="118533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6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5pPr>
            <a:lvl6pPr marL="140758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6pPr>
            <a:lvl7pPr marL="162983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7pPr>
            <a:lvl8pPr marL="185208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8pPr>
            <a:lvl9pPr marL="207433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b="1" kern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C’est quoi un débriefe 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Echange, entretien avec le collaborateur pour améliorer sa production en matière de mesure qualité qui permet également au CC d’éclaircir des points d’interrogations et à l’auditeur de relever les difficultés retrouvées sur terrains et les appels</a:t>
            </a:r>
          </a:p>
          <a:p>
            <a:pPr>
              <a:lnSpc>
                <a:spcPct val="117000"/>
              </a:lnSpc>
              <a:spcAft>
                <a:spcPts val="800"/>
              </a:spcAft>
            </a:pPr>
            <a:r>
              <a:rPr lang="fr-FR" sz="1800" b="1" kern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Objectif : 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Faire comprendre au collaborateur ce qui a été bien fait, ce qui doit être amélioré, pourquoi, et comment progresser concrètement. Un bon débrief doit permettre au collaborateur de sortir de l'entretien en sachant clairement : </a:t>
            </a:r>
            <a:r>
              <a:rPr lang="fr-FR" sz="1800" b="1" kern="0" dirty="0">
                <a:latin typeface="Calibri" panose="020F0502020204030204" pitchFamily="34" charset="0"/>
                <a:ea typeface="Calibri" panose="020F0502020204030204" pitchFamily="34" charset="0"/>
              </a:rPr>
              <a:t>« Ce que je fais bien → ce que je dois changer → comment je vais le changer → comment on va mesurer ma progression. »  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C'est cette logique qui transforme une simple écoute d'appel en </a:t>
            </a:r>
            <a:r>
              <a:rPr lang="fr-FR" sz="1800" b="1" kern="0" dirty="0">
                <a:latin typeface="Calibri" panose="020F0502020204030204" pitchFamily="34" charset="0"/>
                <a:ea typeface="Calibri" panose="020F0502020204030204" pitchFamily="34" charset="0"/>
              </a:rPr>
              <a:t>véritable accompagnement managérial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. Tu peux alors montrer au collaborateur </a:t>
            </a:r>
            <a:r>
              <a:rPr lang="fr-FR" sz="1800" b="1" kern="0" dirty="0">
                <a:latin typeface="Calibri" panose="020F0502020204030204" pitchFamily="34" charset="0"/>
                <a:ea typeface="Calibri" panose="020F0502020204030204" pitchFamily="34" charset="0"/>
              </a:rPr>
              <a:t>sa progression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, et pas seulement ses lacunes.  Cela permet de construire progressivement la compétence</a:t>
            </a:r>
          </a:p>
          <a:p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27000"/>
              </a:lnSpc>
              <a:spcAft>
                <a:spcPts val="800"/>
              </a:spcAft>
            </a:pPr>
            <a:r>
              <a:rPr lang="fr-FR" sz="1800" b="1" kern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Etapes de réalisation :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kern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1) 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Rappeler l’objectif du débrief : accompagnement et amélioration.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kern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2)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Commencer par lui demander son propre ressenti sur l’appel. Auto évaluation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kern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3)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Pousser le collaborateur à s'exprimer en toute transparence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kern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4)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Poser des questions comme : Comment évalues-tu cet appel ? Qu’est-ce que tu penses avoir bien réussi ?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kern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5)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Annoncer les points forts d'abord et encourager le CC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kern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6)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Analyser les axes d’amélioration </a:t>
            </a:r>
          </a:p>
          <a:p>
            <a:endParaRPr lang="fr-FR" kern="0" dirty="0"/>
          </a:p>
        </p:txBody>
      </p:sp>
    </p:spTree>
    <p:extLst>
      <p:ext uri="{BB962C8B-B14F-4D97-AF65-F5344CB8AC3E}">
        <p14:creationId xmlns:p14="http://schemas.microsoft.com/office/powerpoint/2010/main" val="751120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CA425DB1-36A5-4818-B3F0-BB74A225ACD0}"/>
              </a:ext>
            </a:extLst>
          </p:cNvPr>
          <p:cNvSpPr txBox="1">
            <a:spLocks/>
          </p:cNvSpPr>
          <p:nvPr/>
        </p:nvSpPr>
        <p:spPr>
          <a:xfrm>
            <a:off x="3400425" y="-67470"/>
            <a:ext cx="5905500" cy="1325563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>
            <a:noAutofit/>
          </a:bodyPr>
          <a:lstStyle>
            <a:lvl1pPr marL="0" marR="0" indent="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  <a:sym typeface="Swis721 BT"/>
              </a:defRPr>
            </a:lvl1pPr>
            <a:lvl2pPr marL="0" marR="0" indent="1143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2pPr>
            <a:lvl3pPr marL="0" marR="0" indent="2286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3pPr>
            <a:lvl4pPr marL="0" marR="0" indent="3429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4pPr>
            <a:lvl5pPr marL="0" marR="0" indent="4572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5pPr>
            <a:lvl6pPr marL="0" marR="0" indent="5715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6pPr>
            <a:lvl7pPr marL="0" marR="0" indent="6858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7pPr>
            <a:lvl8pPr marL="0" marR="0" indent="8001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8pPr>
            <a:lvl9pPr marL="0" marR="0" indent="9144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9pPr>
          </a:lstStyle>
          <a:p>
            <a:r>
              <a:rPr lang="fr-FR" sz="7200" kern="0" dirty="0">
                <a:solidFill>
                  <a:schemeClr val="accent2">
                    <a:lumMod val="50000"/>
                  </a:schemeClr>
                </a:solidFill>
              </a:rPr>
              <a:t>Plan d’action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E72E4D7-A31F-45E1-8BE2-506771CCB547}"/>
              </a:ext>
            </a:extLst>
          </p:cNvPr>
          <p:cNvSpPr txBox="1"/>
          <p:nvPr/>
        </p:nvSpPr>
        <p:spPr>
          <a:xfrm>
            <a:off x="376237" y="1258093"/>
            <a:ext cx="11953875" cy="3970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dirty="0">
                <a:latin typeface="Arial" panose="020B0604020202020204" pitchFamily="34" charset="0"/>
                <a:ea typeface="Calibri" panose="020F0502020204030204" pitchFamily="34" charset="0"/>
              </a:rPr>
              <a:t>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 plan d’action doit surtout être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concret, progressif et mesurable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. </a:t>
            </a:r>
            <a:r>
              <a:rPr lang="fr-FR" altLang="fr-FR" dirty="0">
                <a:latin typeface="Arial" panose="020B0604020202020204" pitchFamily="34" charset="0"/>
                <a:ea typeface="Calibri" panose="020F0502020204030204" pitchFamily="34" charset="0"/>
              </a:rPr>
              <a:t>Il doit se dérouler comme suit :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comportement attendu + action + indicateur + délai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Constat → Objectif → Action → Indicateur → Échéance → Suivi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1" i="0" u="none" strike="noStrike" normalizeH="0" baseline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Exemple: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Constat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le collaborateur coupe régulièrement la parole au client.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</a:b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améliorer l’écoute active.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</a:b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laisser le client terminer son explication et utiliser une reformulation avant de répondre.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</a:b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Indicateur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sur les 5 prochains appels écoutés, aucune interruption injustifiée et au moins une reformulation lorsque nécessaire.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</a:b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Échéance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2 semaines.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</a:b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Suivi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 nouvelle écoute de 5 appels. </a:t>
            </a:r>
            <a:endParaRPr lang="fr-FR" altLang="fr-FR" sz="18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953F601E-1C98-446C-A929-1840DB63B3EA}"/>
              </a:ext>
            </a:extLst>
          </p:cNvPr>
          <p:cNvSpPr/>
          <p:nvPr/>
        </p:nvSpPr>
        <p:spPr>
          <a:xfrm>
            <a:off x="3267075" y="2561093"/>
            <a:ext cx="552450" cy="447675"/>
          </a:xfrm>
          <a:prstGeom prst="downArrow">
            <a:avLst/>
          </a:prstGeom>
          <a:solidFill>
            <a:srgbClr val="E7473D"/>
          </a:solidFill>
          <a:ln w="12700" cap="flat">
            <a:noFill/>
            <a:miter lim="400000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rmAutofit fontScale="47500" lnSpcReduction="20000"/>
          </a:bodyPr>
          <a:lstStyle/>
          <a:p>
            <a:pPr algn="ctr"/>
            <a:endParaRPr lang="fr-FR" sz="3200" dirty="0" err="1">
              <a:solidFill>
                <a:schemeClr val="bg1"/>
              </a:solidFill>
              <a:latin typeface="Swis721 BT Roman" charset="0"/>
              <a:ea typeface="Swis721 BT Roman" charset="0"/>
              <a:cs typeface="Swis721 BT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05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DD9C7F2-1FD7-46F1-9407-85181EC9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36FEA-8CB9-41FA-B479-EAB77352D1BB}" type="slidenum">
              <a:rPr lang="fr-FR" smtClean="0"/>
              <a:t>4</a:t>
            </a:fld>
            <a:endParaRPr lang="fr-FR"/>
          </a:p>
        </p:txBody>
      </p:sp>
      <p:pic>
        <p:nvPicPr>
          <p:cNvPr id="2050" name="Picture 2" descr="La méthode SMART : Un classique pour structurer vos objectifs - Marguerite  Consulting">
            <a:extLst>
              <a:ext uri="{FF2B5EF4-FFF2-40B4-BE49-F238E27FC236}">
                <a16:creationId xmlns:a16="http://schemas.microsoft.com/office/drawing/2014/main" id="{84075CD2-E755-49C1-96BC-C2E0E24FA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749" y="5257800"/>
            <a:ext cx="4430251" cy="158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7396BDB7-E717-4519-B8B8-561E535971B0}"/>
              </a:ext>
            </a:extLst>
          </p:cNvPr>
          <p:cNvCxnSpPr>
            <a:cxnSpLocks/>
          </p:cNvCxnSpPr>
          <p:nvPr/>
        </p:nvCxnSpPr>
        <p:spPr>
          <a:xfrm flipH="1">
            <a:off x="3112071" y="792708"/>
            <a:ext cx="803897" cy="747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7144A6A5-3AA6-48E1-889F-5D52394574B9}"/>
              </a:ext>
            </a:extLst>
          </p:cNvPr>
          <p:cNvCxnSpPr>
            <a:cxnSpLocks/>
          </p:cNvCxnSpPr>
          <p:nvPr/>
        </p:nvCxnSpPr>
        <p:spPr>
          <a:xfrm flipH="1">
            <a:off x="4549973" y="792708"/>
            <a:ext cx="588766" cy="951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47CF44E1-A151-4076-B58D-0CE57262820B}"/>
              </a:ext>
            </a:extLst>
          </p:cNvPr>
          <p:cNvCxnSpPr>
            <a:cxnSpLocks/>
          </p:cNvCxnSpPr>
          <p:nvPr/>
        </p:nvCxnSpPr>
        <p:spPr>
          <a:xfrm flipH="1">
            <a:off x="6124874" y="815470"/>
            <a:ext cx="129777" cy="1123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0A5C64C6-7817-4E1B-83A7-DCED14F35886}"/>
              </a:ext>
            </a:extLst>
          </p:cNvPr>
          <p:cNvCxnSpPr>
            <a:cxnSpLocks/>
          </p:cNvCxnSpPr>
          <p:nvPr/>
        </p:nvCxnSpPr>
        <p:spPr>
          <a:xfrm>
            <a:off x="7473850" y="815470"/>
            <a:ext cx="365225" cy="10172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91AD8A5-F7E7-4245-85EB-BA5BF2E39FF5}"/>
              </a:ext>
            </a:extLst>
          </p:cNvPr>
          <p:cNvCxnSpPr>
            <a:cxnSpLocks/>
          </p:cNvCxnSpPr>
          <p:nvPr/>
        </p:nvCxnSpPr>
        <p:spPr>
          <a:xfrm>
            <a:off x="8299230" y="766843"/>
            <a:ext cx="711994" cy="8217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D24B1B2-045B-4C2D-AF1D-41F08E9BB2E6}"/>
              </a:ext>
            </a:extLst>
          </p:cNvPr>
          <p:cNvSpPr/>
          <p:nvPr/>
        </p:nvSpPr>
        <p:spPr>
          <a:xfrm>
            <a:off x="2330391" y="1605174"/>
            <a:ext cx="1340700" cy="619125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Spécifique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A388489-9B1D-48E5-9748-F8FEBAD77835}"/>
              </a:ext>
            </a:extLst>
          </p:cNvPr>
          <p:cNvSpPr/>
          <p:nvPr/>
        </p:nvSpPr>
        <p:spPr>
          <a:xfrm>
            <a:off x="3968503" y="1832764"/>
            <a:ext cx="1260722" cy="619125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Mesurable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EBFCCDB-DB9D-47E4-B644-32DE741CFB45}"/>
              </a:ext>
            </a:extLst>
          </p:cNvPr>
          <p:cNvSpPr/>
          <p:nvPr/>
        </p:nvSpPr>
        <p:spPr>
          <a:xfrm>
            <a:off x="5599453" y="2025508"/>
            <a:ext cx="1356939" cy="619125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Atteignable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2EF51DA-1A86-41FA-9FBE-6C20FB48C3EE}"/>
              </a:ext>
            </a:extLst>
          </p:cNvPr>
          <p:cNvSpPr/>
          <p:nvPr/>
        </p:nvSpPr>
        <p:spPr>
          <a:xfrm>
            <a:off x="7325169" y="1931041"/>
            <a:ext cx="1102510" cy="619125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Réaliste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C15B3EC-A9C0-40F6-B322-C8C19755DB13}"/>
              </a:ext>
            </a:extLst>
          </p:cNvPr>
          <p:cNvSpPr/>
          <p:nvPr/>
        </p:nvSpPr>
        <p:spPr>
          <a:xfrm>
            <a:off x="8772505" y="1715945"/>
            <a:ext cx="1417389" cy="619125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Temporalisé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7D720E2-F7CC-4B66-B769-CE21D3D9B954}"/>
              </a:ext>
            </a:extLst>
          </p:cNvPr>
          <p:cNvSpPr txBox="1"/>
          <p:nvPr/>
        </p:nvSpPr>
        <p:spPr>
          <a:xfrm>
            <a:off x="2704366" y="-65840"/>
            <a:ext cx="6096000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6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kumimoji="0" lang="fr-FR" altLang="fr-FR" sz="6000" b="1" i="0" u="none" strike="noStrike" normalizeH="0" baseline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bjectifs SMART</a:t>
            </a:r>
          </a:p>
        </p:txBody>
      </p:sp>
      <p:cxnSp>
        <p:nvCxnSpPr>
          <p:cNvPr id="15" name="Connecteur : en arc 14">
            <a:extLst>
              <a:ext uri="{FF2B5EF4-FFF2-40B4-BE49-F238E27FC236}">
                <a16:creationId xmlns:a16="http://schemas.microsoft.com/office/drawing/2014/main" id="{8F5E559E-8F90-4B8F-9610-B4F83F34C3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43075" y="2240603"/>
            <a:ext cx="966502" cy="75554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 : en arc 16">
            <a:extLst>
              <a:ext uri="{FF2B5EF4-FFF2-40B4-BE49-F238E27FC236}">
                <a16:creationId xmlns:a16="http://schemas.microsoft.com/office/drawing/2014/main" id="{15CB9356-9011-4067-B834-5E9CD8E1470E}"/>
              </a:ext>
            </a:extLst>
          </p:cNvPr>
          <p:cNvCxnSpPr>
            <a:cxnSpLocks/>
            <a:endCxn id="24" idx="0"/>
          </p:cNvCxnSpPr>
          <p:nvPr/>
        </p:nvCxnSpPr>
        <p:spPr>
          <a:xfrm rot="10800000" flipV="1">
            <a:off x="3765778" y="2564692"/>
            <a:ext cx="1059363" cy="80002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 : en arc 17">
            <a:extLst>
              <a:ext uri="{FF2B5EF4-FFF2-40B4-BE49-F238E27FC236}">
                <a16:creationId xmlns:a16="http://schemas.microsoft.com/office/drawing/2014/main" id="{B6C4D74B-F3FB-4D09-A393-B680E6EA0AB8}"/>
              </a:ext>
            </a:extLst>
          </p:cNvPr>
          <p:cNvCxnSpPr>
            <a:cxnSpLocks/>
            <a:endCxn id="25" idx="0"/>
          </p:cNvCxnSpPr>
          <p:nvPr/>
        </p:nvCxnSpPr>
        <p:spPr>
          <a:xfrm rot="5400000">
            <a:off x="6136963" y="2639468"/>
            <a:ext cx="771167" cy="71335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 : en arc 18">
            <a:extLst>
              <a:ext uri="{FF2B5EF4-FFF2-40B4-BE49-F238E27FC236}">
                <a16:creationId xmlns:a16="http://schemas.microsoft.com/office/drawing/2014/main" id="{2F0EAF38-4BB1-46BF-9BEC-19CD8D959638}"/>
              </a:ext>
            </a:extLst>
          </p:cNvPr>
          <p:cNvCxnSpPr>
            <a:cxnSpLocks/>
            <a:endCxn id="26" idx="0"/>
          </p:cNvCxnSpPr>
          <p:nvPr/>
        </p:nvCxnSpPr>
        <p:spPr>
          <a:xfrm rot="16200000" flipH="1">
            <a:off x="8006632" y="2776620"/>
            <a:ext cx="774858" cy="3422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 : en arc 20">
            <a:extLst>
              <a:ext uri="{FF2B5EF4-FFF2-40B4-BE49-F238E27FC236}">
                <a16:creationId xmlns:a16="http://schemas.microsoft.com/office/drawing/2014/main" id="{3D8E1C2D-5D39-408E-968D-BFAB787190DD}"/>
              </a:ext>
            </a:extLst>
          </p:cNvPr>
          <p:cNvCxnSpPr>
            <a:cxnSpLocks/>
          </p:cNvCxnSpPr>
          <p:nvPr/>
        </p:nvCxnSpPr>
        <p:spPr>
          <a:xfrm>
            <a:off x="9420515" y="2335070"/>
            <a:ext cx="1172883" cy="3961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A5A43FED-85A4-4D0A-9215-CA7FFDA2BA0C}"/>
              </a:ext>
            </a:extLst>
          </p:cNvPr>
          <p:cNvSpPr/>
          <p:nvPr/>
        </p:nvSpPr>
        <p:spPr>
          <a:xfrm>
            <a:off x="414566" y="3041571"/>
            <a:ext cx="2084411" cy="774858"/>
          </a:xfrm>
          <a:prstGeom prst="roundRect">
            <a:avLst/>
          </a:prstGeom>
          <a:solidFill>
            <a:srgbClr val="E7473D"/>
          </a:solidFill>
          <a:ln w="12700" cap="flat">
            <a:noFill/>
            <a:miter lim="400000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Swis721 BT Roman" charset="0"/>
                <a:ea typeface="Swis721 BT Roman" charset="0"/>
                <a:cs typeface="Swis721 BT Roman" charset="0"/>
              </a:rPr>
              <a:t>Décrit clairement ce que l’apprenant doit accomplir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805C39C-5532-4AF5-AE8E-F356FCB57166}"/>
              </a:ext>
            </a:extLst>
          </p:cNvPr>
          <p:cNvSpPr/>
          <p:nvPr/>
        </p:nvSpPr>
        <p:spPr>
          <a:xfrm>
            <a:off x="2723571" y="3364714"/>
            <a:ext cx="2084411" cy="774858"/>
          </a:xfrm>
          <a:prstGeom prst="roundRect">
            <a:avLst/>
          </a:prstGeom>
          <a:solidFill>
            <a:srgbClr val="E7473D"/>
          </a:solidFill>
          <a:ln w="12700" cap="flat">
            <a:noFill/>
            <a:miter lim="400000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rmAutofit fontScale="92500" lnSpcReduction="10000"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Swis721 BT Roman" charset="0"/>
              </a:rPr>
              <a:t>Doit inclure des indicateurs qui permettent de mesurer le progrès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46D775D-D76B-47AC-B1F8-614E1862263B}"/>
              </a:ext>
            </a:extLst>
          </p:cNvPr>
          <p:cNvSpPr/>
          <p:nvPr/>
        </p:nvSpPr>
        <p:spPr>
          <a:xfrm>
            <a:off x="5123660" y="3381731"/>
            <a:ext cx="2084411" cy="774858"/>
          </a:xfrm>
          <a:prstGeom prst="roundRect">
            <a:avLst/>
          </a:prstGeom>
          <a:solidFill>
            <a:srgbClr val="E7473D"/>
          </a:solidFill>
          <a:ln w="12700" cap="flat">
            <a:noFill/>
            <a:miter lim="400000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fr-FR" sz="1300" dirty="0">
                <a:solidFill>
                  <a:schemeClr val="bg1"/>
                </a:solidFill>
                <a:latin typeface="Swis721 BT Roman" charset="0"/>
              </a:rPr>
              <a:t>Compte tenu </a:t>
            </a:r>
            <a:r>
              <a:rPr lang="fr-FR" sz="1300" dirty="0" err="1">
                <a:solidFill>
                  <a:schemeClr val="bg1"/>
                </a:solidFill>
                <a:latin typeface="Swis721 BT Roman" charset="0"/>
              </a:rPr>
              <a:t>ds</a:t>
            </a:r>
            <a:r>
              <a:rPr lang="fr-FR" sz="1300" dirty="0">
                <a:solidFill>
                  <a:schemeClr val="bg1"/>
                </a:solidFill>
                <a:latin typeface="Swis721 BT Roman" charset="0"/>
              </a:rPr>
              <a:t> compétences de départ des apprenants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2CABB22-5D43-47C9-A3DF-4C88DD0A2D94}"/>
              </a:ext>
            </a:extLst>
          </p:cNvPr>
          <p:cNvSpPr/>
          <p:nvPr/>
        </p:nvSpPr>
        <p:spPr>
          <a:xfrm>
            <a:off x="7522980" y="3335174"/>
            <a:ext cx="2084411" cy="774858"/>
          </a:xfrm>
          <a:prstGeom prst="roundRect">
            <a:avLst/>
          </a:prstGeom>
          <a:solidFill>
            <a:srgbClr val="E7473D"/>
          </a:solidFill>
          <a:ln w="12700" cap="flat">
            <a:noFill/>
            <a:miter lim="400000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fr-FR" sz="1300" dirty="0">
                <a:solidFill>
                  <a:schemeClr val="bg1"/>
                </a:solidFill>
                <a:latin typeface="Swis721 BT Roman" charset="0"/>
              </a:rPr>
              <a:t>Pertinent et aligné avec les besoins pro des apprenants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2AFFE78D-FF8F-4466-91AD-724604E55185}"/>
              </a:ext>
            </a:extLst>
          </p:cNvPr>
          <p:cNvSpPr/>
          <p:nvPr/>
        </p:nvSpPr>
        <p:spPr>
          <a:xfrm>
            <a:off x="10006956" y="2804891"/>
            <a:ext cx="2084411" cy="774858"/>
          </a:xfrm>
          <a:prstGeom prst="roundRect">
            <a:avLst/>
          </a:prstGeom>
          <a:solidFill>
            <a:srgbClr val="E7473D"/>
          </a:solidFill>
          <a:ln w="12700" cap="flat">
            <a:noFill/>
            <a:miter lim="400000"/>
          </a:ln>
          <a:effectLst>
            <a:outerShdw blurRad="825500" dist="165100" dir="5400000" algn="t" rotWithShape="0">
              <a:prstClr val="black">
                <a:alpha val="2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fr-FR" sz="1300" dirty="0">
                <a:solidFill>
                  <a:schemeClr val="bg1"/>
                </a:solidFill>
                <a:latin typeface="Swis721 BT Roman" charset="0"/>
              </a:rPr>
              <a:t>Doit avoir une date limite ou une période définie pour être réalisé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4E317EA6-2A19-4145-B3A8-21F79A44F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06" y="5451950"/>
            <a:ext cx="3723244" cy="13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89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35">
            <a:extLst>
              <a:ext uri="{FF2B5EF4-FFF2-40B4-BE49-F238E27FC236}">
                <a16:creationId xmlns:a16="http://schemas.microsoft.com/office/drawing/2014/main" id="{75202FE1-0390-4693-8B8E-91A9E8A2E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6" y="3132569"/>
            <a:ext cx="1743075" cy="1743075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2049497B-36F3-462C-AFDD-94506A245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584" y="7783"/>
            <a:ext cx="9183565" cy="3400931"/>
          </a:xfrm>
          <a:prstGeom prst="rect">
            <a:avLst/>
          </a:prstGeom>
          <a:ln>
            <a:noFill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  <a:scene3d>
              <a:camera prst="perspectiveLeft"/>
              <a:lightRig rig="threePt" dir="t"/>
            </a:scene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5400" b="1" i="0" u="none" strike="noStrike" normalizeH="0" baseline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</a:br>
            <a:endParaRPr lang="fr-FR" altLang="fr-FR" sz="1100" dirty="0"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100" dirty="0"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1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1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1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1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6D07981E-E1D2-413F-9A34-5B9717B2A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886313"/>
              </p:ext>
            </p:extLst>
          </p:nvPr>
        </p:nvGraphicFramePr>
        <p:xfrm>
          <a:off x="1238250" y="2242895"/>
          <a:ext cx="10515600" cy="3543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0660436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684314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3295263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292024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68633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Constat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Objectif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Action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Indicateur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Délai CC moyen Approche : coaching et perfectionnement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98902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82B0F573-10D0-4FED-84FC-06BB4E51A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090873"/>
              </p:ext>
            </p:extLst>
          </p:nvPr>
        </p:nvGraphicFramePr>
        <p:xfrm>
          <a:off x="1238250" y="5904467"/>
          <a:ext cx="10515600" cy="3543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84595211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233471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039097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096447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53033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Questionnement correct mais incomplet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Approfondir le besoin client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Poser 2 à 3 questions pertinentes avant de proposer une solution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Besoin clairement identifié sur 4 appels sur 5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2 semaines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402686"/>
                  </a:ext>
                </a:extLst>
              </a:tr>
            </a:tbl>
          </a:graphicData>
        </a:graphic>
      </p:graphicFrame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51C1FA06-DD81-4393-B6A8-37C1F7FC9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416121"/>
              </p:ext>
            </p:extLst>
          </p:nvPr>
        </p:nvGraphicFramePr>
        <p:xfrm>
          <a:off x="1238250" y="5369123"/>
          <a:ext cx="10515600" cy="5219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930301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916691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04452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5694719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229435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Constat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Objectif prioritaire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Action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Indicateur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effectLst/>
                        </a:rPr>
                        <a:t>Délai CC faible Approche : accompagnement rapproché et acquisition des fondamentaux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068763"/>
                  </a:ext>
                </a:extLst>
              </a:tr>
            </a:tbl>
          </a:graphicData>
        </a:graphic>
      </p:graphicFrame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0AA413C3-0F0E-4962-88DB-5B00F2CF3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389532"/>
              </p:ext>
            </p:extLst>
          </p:nvPr>
        </p:nvGraphicFramePr>
        <p:xfrm>
          <a:off x="1238250" y="2610599"/>
          <a:ext cx="10515600" cy="5219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675965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2888427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917134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110379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68357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Le collaborateur coupe la parole et répond avant d'avoir compris la demande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Améliorer l'écoute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Laisser le client terminer, prendre les informations essentielles et reformuler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Au moins 4 appels sur 5 avec une écoute et une reformulation conformes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dirty="0">
                          <a:effectLst/>
                        </a:rPr>
                        <a:t>1 semaine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35104"/>
                  </a:ext>
                </a:extLst>
              </a:tr>
            </a:tbl>
          </a:graphicData>
        </a:graphic>
      </p:graphicFrame>
      <p:sp>
        <p:nvSpPr>
          <p:cNvPr id="31" name="ZoneTexte 30">
            <a:extLst>
              <a:ext uri="{FF2B5EF4-FFF2-40B4-BE49-F238E27FC236}">
                <a16:creationId xmlns:a16="http://schemas.microsoft.com/office/drawing/2014/main" id="{6C6EBF05-4772-475E-81EF-C496115037BB}"/>
              </a:ext>
            </a:extLst>
          </p:cNvPr>
          <p:cNvSpPr txBox="1"/>
          <p:nvPr/>
        </p:nvSpPr>
        <p:spPr>
          <a:xfrm>
            <a:off x="1108175" y="1478726"/>
            <a:ext cx="3946623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CC Niveau Moyen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9644C4E5-6159-4E81-857A-EE34985BD883}"/>
              </a:ext>
            </a:extLst>
          </p:cNvPr>
          <p:cNvSpPr txBox="1"/>
          <p:nvPr/>
        </p:nvSpPr>
        <p:spPr>
          <a:xfrm>
            <a:off x="1108174" y="4605236"/>
            <a:ext cx="3946623" cy="698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CC Niveau Faible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BFD42BC-74EB-4FD6-AD01-F395E97AE318}"/>
              </a:ext>
            </a:extLst>
          </p:cNvPr>
          <p:cNvSpPr txBox="1"/>
          <p:nvPr/>
        </p:nvSpPr>
        <p:spPr>
          <a:xfrm>
            <a:off x="2286000" y="7783"/>
            <a:ext cx="7920058" cy="11414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defTabSz="292100" fontAlgn="auto">
              <a:lnSpc>
                <a:spcPct val="90000"/>
              </a:lnSpc>
            </a:pPr>
            <a:r>
              <a:rPr lang="fr-FR" sz="7200" b="1" kern="0" dirty="0">
                <a:solidFill>
                  <a:schemeClr val="accent2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Helvetica Light"/>
              </a:rPr>
              <a:t>Profils et méthodes  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FBDC7BA9-66C9-4006-B41B-FBC3D6BF3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0" y="3283168"/>
            <a:ext cx="28575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03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C09AB-2961-4D4B-B5AD-146950EAB849}"/>
              </a:ext>
            </a:extLst>
          </p:cNvPr>
          <p:cNvSpPr txBox="1">
            <a:spLocks/>
          </p:cNvSpPr>
          <p:nvPr/>
        </p:nvSpPr>
        <p:spPr>
          <a:xfrm>
            <a:off x="962025" y="0"/>
            <a:ext cx="9696450" cy="1325563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>
            <a:noAutofit/>
          </a:bodyPr>
          <a:lstStyle>
            <a:lvl1pPr marL="0" marR="0" indent="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  <a:sym typeface="Swis721 BT"/>
              </a:defRPr>
            </a:lvl1pPr>
            <a:lvl2pPr marL="0" marR="0" indent="1143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2pPr>
            <a:lvl3pPr marL="0" marR="0" indent="2286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3pPr>
            <a:lvl4pPr marL="0" marR="0" indent="3429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4pPr>
            <a:lvl5pPr marL="0" marR="0" indent="4572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5pPr>
            <a:lvl6pPr marL="0" marR="0" indent="5715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6pPr>
            <a:lvl7pPr marL="0" marR="0" indent="6858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7pPr>
            <a:lvl8pPr marL="0" marR="0" indent="8001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8pPr>
            <a:lvl9pPr marL="0" marR="0" indent="9144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9pPr>
          </a:lstStyle>
          <a:p>
            <a:r>
              <a:rPr lang="fr-FR" sz="6600" kern="0" dirty="0">
                <a:solidFill>
                  <a:schemeClr val="accent2">
                    <a:lumMod val="75000"/>
                  </a:schemeClr>
                </a:solidFill>
              </a:rPr>
              <a:t>Exemple Fiche Débriefe </a:t>
            </a:r>
            <a:r>
              <a:rPr lang="fr-FR" sz="7200" kern="0" dirty="0">
                <a:solidFill>
                  <a:schemeClr val="accent2">
                    <a:lumMod val="75000"/>
                  </a:schemeClr>
                </a:solidFill>
              </a:rPr>
              <a:t>1 </a:t>
            </a:r>
          </a:p>
        </p:txBody>
      </p:sp>
      <p:sp>
        <p:nvSpPr>
          <p:cNvPr id="3" name="Espace réservé du contenu 4">
            <a:extLst>
              <a:ext uri="{FF2B5EF4-FFF2-40B4-BE49-F238E27FC236}">
                <a16:creationId xmlns:a16="http://schemas.microsoft.com/office/drawing/2014/main" id="{5797A04F-41AA-4D0B-A53A-B2DC5B548D1B}"/>
              </a:ext>
            </a:extLst>
          </p:cNvPr>
          <p:cNvSpPr txBox="1">
            <a:spLocks/>
          </p:cNvSpPr>
          <p:nvPr/>
        </p:nvSpPr>
        <p:spPr>
          <a:xfrm>
            <a:off x="186267" y="1448594"/>
            <a:ext cx="12192000" cy="5629275"/>
          </a:xfrm>
          <a:prstGeom prst="rect">
            <a:avLst/>
          </a:prstGeom>
        </p:spPr>
        <p:txBody>
          <a:bodyPr/>
          <a:lstStyle>
            <a:lvl1pPr marL="0" marR="0" indent="0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+mj-lt"/>
                <a:ea typeface="Segoe UI Light" panose="020B0502040204020203" pitchFamily="34" charset="0"/>
                <a:cs typeface="Segoe UI Light" panose="020B0502040204020203" pitchFamily="34" charset="0"/>
                <a:sym typeface="Swis721 BT"/>
              </a:defRPr>
            </a:lvl1pPr>
            <a:lvl2pPr marL="51858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rgbClr val="00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2pPr>
            <a:lvl3pPr marL="74083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3pPr>
            <a:lvl4pPr marL="96308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6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4pPr>
            <a:lvl5pPr marL="118533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6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5pPr>
            <a:lvl6pPr marL="140758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6pPr>
            <a:lvl7pPr marL="162983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7pPr>
            <a:lvl8pPr marL="185208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8pPr>
            <a:lvl9pPr marL="207433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9pPr>
          </a:lstStyle>
          <a:p>
            <a:r>
              <a:rPr lang="fr-FR" sz="1800" kern="0" dirty="0">
                <a:latin typeface="Symbol" panose="05050102010706020507" pitchFamily="18" charset="2"/>
                <a:ea typeface="Calibri" panose="020F0502020204030204" pitchFamily="34" charset="0"/>
              </a:rPr>
              <a:t>·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Collaborateur :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r>
              <a:rPr lang="fr-FR" sz="1800" kern="0" dirty="0">
                <a:latin typeface="Symbol" panose="05050102010706020507" pitchFamily="18" charset="2"/>
                <a:ea typeface="Calibri" panose="020F0502020204030204" pitchFamily="34" charset="0"/>
              </a:rPr>
              <a:t>·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Manager : </a:t>
            </a:r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FR" sz="1800" kern="0" dirty="0">
                <a:latin typeface="Symbol" panose="05050102010706020507" pitchFamily="18" charset="2"/>
                <a:ea typeface="Calibri" panose="020F0502020204030204" pitchFamily="34" charset="0"/>
              </a:rPr>
              <a:t>·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Date : </a:t>
            </a:r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FR" sz="1800" kern="0" dirty="0">
                <a:latin typeface="Symbol" panose="05050102010706020507" pitchFamily="18" charset="2"/>
                <a:ea typeface="Calibri" panose="020F0502020204030204" pitchFamily="34" charset="0"/>
              </a:rPr>
              <a:t>·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Période analysée : </a:t>
            </a:r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FR" sz="1800" kern="0" dirty="0">
                <a:latin typeface="Symbol" panose="05050102010706020507" pitchFamily="18" charset="2"/>
                <a:ea typeface="Calibri" panose="020F0502020204030204" pitchFamily="34" charset="0"/>
              </a:rPr>
              <a:t>·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Nombre d'appels écoutés : </a:t>
            </a:r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Font typeface="Symbol" panose="05050102010706020507" pitchFamily="18" charset="2"/>
              <a:buChar char="·"/>
            </a:pP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Type d'appels :</a:t>
            </a:r>
          </a:p>
          <a:p>
            <a:endParaRPr lang="fr-FR" sz="1800" i="1" u="sng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buFont typeface="Symbol" panose="05050102010706020507" pitchFamily="18" charset="2"/>
              <a:buChar char="·"/>
            </a:pPr>
            <a:r>
              <a:rPr lang="fr-FR" sz="1800" b="1" kern="0" dirty="0">
                <a:latin typeface="Calibri" panose="020F0502020204030204" pitchFamily="34" charset="0"/>
                <a:ea typeface="Calibri" panose="020F0502020204030204" pitchFamily="34" charset="0"/>
              </a:rPr>
              <a:t>Appel  1 – JJ/M – 00:00:00</a:t>
            </a:r>
            <a:b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Motif :</a:t>
            </a:r>
            <a:b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Points positifs 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b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Point à améliorer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:</a:t>
            </a:r>
            <a:b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Impact 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b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Recommandation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: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   </a:t>
            </a: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Plan d'action : Fixer un objectif (</a:t>
            </a:r>
            <a:r>
              <a:rPr lang="fr-FR" sz="1800" i="1" u="sng" kern="0" dirty="0" err="1">
                <a:latin typeface="Calibri" panose="020F0502020204030204" pitchFamily="34" charset="0"/>
                <a:ea typeface="Calibri" panose="020F0502020204030204" pitchFamily="34" charset="0"/>
              </a:rPr>
              <a:t>Nmb</a:t>
            </a:r>
            <a:r>
              <a:rPr lang="fr-FR" sz="1800" i="1" u="sng" kern="0" dirty="0">
                <a:latin typeface="Calibri" panose="020F0502020204030204" pitchFamily="34" charset="0"/>
                <a:ea typeface="Calibri" panose="020F0502020204030204" pitchFamily="34" charset="0"/>
              </a:rPr>
              <a:t> appels et attendu et date prochain audit)</a:t>
            </a:r>
          </a:p>
        </p:txBody>
      </p:sp>
    </p:spTree>
    <p:extLst>
      <p:ext uri="{BB962C8B-B14F-4D97-AF65-F5344CB8AC3E}">
        <p14:creationId xmlns:p14="http://schemas.microsoft.com/office/powerpoint/2010/main" val="2059952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0718D9FE-10A5-4EF2-AE22-AF5BE2F2DAD6}"/>
              </a:ext>
            </a:extLst>
          </p:cNvPr>
          <p:cNvSpPr txBox="1">
            <a:spLocks/>
          </p:cNvSpPr>
          <p:nvPr/>
        </p:nvSpPr>
        <p:spPr>
          <a:xfrm>
            <a:off x="982133" y="0"/>
            <a:ext cx="12192000" cy="6981825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0" marR="0" indent="0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+mj-lt"/>
                <a:ea typeface="Segoe UI Light" panose="020B0502040204020203" pitchFamily="34" charset="0"/>
                <a:cs typeface="Segoe UI Light" panose="020B0502040204020203" pitchFamily="34" charset="0"/>
                <a:sym typeface="Swis721 BT"/>
              </a:defRPr>
            </a:lvl1pPr>
            <a:lvl2pPr marL="51858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rgbClr val="00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2pPr>
            <a:lvl3pPr marL="74083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3pPr>
            <a:lvl4pPr marL="96308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6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4pPr>
            <a:lvl5pPr marL="118533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6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5pPr>
            <a:lvl6pPr marL="140758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6pPr>
            <a:lvl7pPr marL="162983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7pPr>
            <a:lvl8pPr marL="185208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8pPr>
            <a:lvl9pPr marL="207433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9pPr>
          </a:lstStyle>
          <a:p>
            <a:endParaRPr lang="fr-FR" sz="2800" i="1" u="sng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27000"/>
              </a:lnSpc>
              <a:spcAft>
                <a:spcPts val="800"/>
              </a:spcAft>
            </a:pPr>
            <a:r>
              <a:rPr lang="fr-FR" sz="2100" b="1" kern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Tableau explicatif :</a:t>
            </a:r>
          </a:p>
          <a:p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27000"/>
              </a:lnSpc>
              <a:spcAft>
                <a:spcPts val="800"/>
              </a:spcAft>
            </a:pPr>
            <a:endParaRPr lang="fr-FR" sz="2100" b="1" kern="0" dirty="0">
              <a:solidFill>
                <a:schemeClr val="accent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7000"/>
              </a:lnSpc>
              <a:spcAft>
                <a:spcPts val="800"/>
              </a:spcAft>
            </a:pPr>
            <a:r>
              <a:rPr lang="fr-FR" sz="2100" b="1" kern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ENGAGEMENT DU COLLABORATEUR   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Ce que je vais mettre en pratique à la suite de ce débrief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Difficultés ou besoins d'accompagnement identifiés </a:t>
            </a:r>
          </a:p>
          <a:p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27000"/>
              </a:lnSpc>
              <a:spcAft>
                <a:spcPts val="800"/>
              </a:spcAft>
            </a:pPr>
            <a:r>
              <a:rPr lang="fr-FR" sz="2100" b="1" kern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ACCOMPAGNEMENT DU MANAGER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1800" kern="0" dirty="0">
                <a:latin typeface="MS Gothic" panose="020B0609070205080204" pitchFamily="49" charset="-128"/>
                <a:ea typeface="Calibri" panose="020F0502020204030204" pitchFamily="34" charset="0"/>
              </a:rPr>
              <a:t>☐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Coaching individuel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1800" kern="0" dirty="0">
                <a:latin typeface="MS Gothic" panose="020B0609070205080204" pitchFamily="49" charset="-128"/>
                <a:ea typeface="Calibri" panose="020F0502020204030204" pitchFamily="34" charset="0"/>
              </a:rPr>
              <a:t>☐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Mise en situation / simulation d'appel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1800" kern="0" dirty="0">
                <a:latin typeface="MS Gothic" panose="020B0609070205080204" pitchFamily="49" charset="-128"/>
                <a:ea typeface="Calibri" panose="020F0502020204030204" pitchFamily="34" charset="0"/>
              </a:rPr>
              <a:t>☐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Accompagnement en double écoute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1800" kern="0" dirty="0">
                <a:latin typeface="MS Gothic" panose="020B0609070205080204" pitchFamily="49" charset="-128"/>
                <a:ea typeface="Calibri" panose="020F0502020204030204" pitchFamily="34" charset="0"/>
              </a:rPr>
              <a:t>☐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Rappel des procédures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1800" kern="0" dirty="0">
                <a:latin typeface="MS Gothic" panose="020B0609070205080204" pitchFamily="49" charset="-128"/>
                <a:ea typeface="Calibri" panose="020F0502020204030204" pitchFamily="34" charset="0"/>
              </a:rPr>
              <a:t>☐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Formation complémentaire</a:t>
            </a:r>
          </a:p>
          <a:p>
            <a:r>
              <a:rPr lang="fr-FR" sz="1800" kern="0" dirty="0">
                <a:latin typeface="MS Gothic" panose="020B0609070205080204" pitchFamily="49" charset="-128"/>
                <a:ea typeface="Calibri" panose="020F0502020204030204" pitchFamily="34" charset="0"/>
              </a:rPr>
              <a:t>☐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Suivi renforcé </a:t>
            </a:r>
          </a:p>
          <a:p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FR" sz="1800" b="1" kern="0" dirty="0">
                <a:latin typeface="Calibri" panose="020F0502020204030204" pitchFamily="34" charset="0"/>
                <a:ea typeface="Calibri" panose="020F0502020204030204" pitchFamily="34" charset="0"/>
              </a:rPr>
              <a:t>DATE DU PROCHAIN SUIVI </a:t>
            </a:r>
          </a:p>
          <a:p>
            <a:r>
              <a:rPr lang="fr-FR" sz="1800" b="1" kern="0" dirty="0">
                <a:latin typeface="Calibri" panose="020F0502020204030204" pitchFamily="34" charset="0"/>
                <a:ea typeface="Calibri" panose="020F0502020204030204" pitchFamily="34" charset="0"/>
              </a:rPr>
              <a:t>OBJECTIF DU PROCHAIN DÉBRIEF</a:t>
            </a:r>
            <a:b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FR" kern="0" dirty="0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01B83E44-C933-488D-BD7C-14A652CDB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292728"/>
              </p:ext>
            </p:extLst>
          </p:nvPr>
        </p:nvGraphicFramePr>
        <p:xfrm>
          <a:off x="855133" y="914399"/>
          <a:ext cx="7755466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59466">
                  <a:extLst>
                    <a:ext uri="{9D8B030D-6E8A-4147-A177-3AD203B41FA5}">
                      <a16:colId xmlns:a16="http://schemas.microsoft.com/office/drawing/2014/main" val="31808867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933852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24613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41805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AXE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Action à mettre en place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Indicateur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29210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1600" b="1" i="0" u="none" strike="noStrike" cap="none" spc="0" baseline="0" dirty="0">
                          <a:ln>
                            <a:noFill/>
                          </a:ln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Swis721 BT"/>
                        </a:rPr>
                        <a:t>Echéance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78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886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73D4047C-5E57-4C9A-85D9-C80BBB12439B}"/>
              </a:ext>
            </a:extLst>
          </p:cNvPr>
          <p:cNvSpPr txBox="1">
            <a:spLocks/>
          </p:cNvSpPr>
          <p:nvPr/>
        </p:nvSpPr>
        <p:spPr>
          <a:xfrm>
            <a:off x="533399" y="1261271"/>
            <a:ext cx="11370734" cy="552873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0" marR="0" indent="0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+mj-lt"/>
                <a:ea typeface="Segoe UI Light" panose="020B0502040204020203" pitchFamily="34" charset="0"/>
                <a:cs typeface="Segoe UI Light" panose="020B0502040204020203" pitchFamily="34" charset="0"/>
                <a:sym typeface="Swis721 BT"/>
              </a:defRPr>
            </a:lvl1pPr>
            <a:lvl2pPr marL="51858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rgbClr val="00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2pPr>
            <a:lvl3pPr marL="74083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000" b="0" i="0" u="none" strike="noStrik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3pPr>
            <a:lvl4pPr marL="96308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6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4pPr>
            <a:lvl5pPr marL="1185333" marR="0" indent="-296333" algn="l" defTabSz="292100" eaLnBrk="1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16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Semilight" panose="020B0402040204020203" pitchFamily="34" charset="0"/>
                <a:ea typeface="Segoe UI Semilight" panose="020B0402040204020203" pitchFamily="34" charset="0"/>
                <a:cs typeface="Segoe UI Semilight" panose="020B0402040204020203" pitchFamily="34" charset="0"/>
                <a:sym typeface="Swis721 BT"/>
              </a:defRPr>
            </a:lvl5pPr>
            <a:lvl6pPr marL="140758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6pPr>
            <a:lvl7pPr marL="162983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7pPr>
            <a:lvl8pPr marL="185208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8pPr>
            <a:lvl9pPr marL="2074333" marR="0" indent="-296333" algn="l" defTabSz="292100" eaLnBrk="1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2400" b="0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9pPr>
          </a:lstStyle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Nom &amp; Prénom du manager / évaluateur : 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Équipe / Service :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Date du débriefing : _____ / _____ / 2026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Appels écouté(s) : 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DIAGNOSTIC &amp; CONSTAT (POST-ÉCOUTE)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Points forts :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Axe d'amélioration prioritaire identifié :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Constat factuel sur l'appel écouté </a:t>
            </a:r>
          </a:p>
          <a:p>
            <a:r>
              <a:rPr lang="fr-FR" sz="1800" b="1" kern="0" dirty="0">
                <a:latin typeface="Calibri" panose="020F0502020204030204" pitchFamily="34" charset="0"/>
              </a:rPr>
              <a:t>MOYENS D'ACCOMPAGNEMENT &amp; RESSOURCES ALLOUÉES</a:t>
            </a:r>
          </a:p>
          <a:p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Cocher les actions d'accompagnement retenues :</a:t>
            </a:r>
          </a:p>
          <a:p>
            <a:pPr>
              <a:buSzPts val="1000"/>
              <a:tabLst>
                <a:tab pos="457200" algn="l"/>
              </a:tabLst>
            </a:pPr>
            <a:r>
              <a:rPr lang="fr-FR" sz="2300" b="1" kern="0" dirty="0"/>
              <a:t>Formation / Micro-</a:t>
            </a:r>
            <a:r>
              <a:rPr lang="fr-FR" sz="2300" b="1" kern="0" dirty="0" err="1"/>
              <a:t>learning</a:t>
            </a:r>
            <a:r>
              <a:rPr lang="fr-FR" sz="2300" b="1" kern="0" dirty="0"/>
              <a:t> :</a:t>
            </a:r>
            <a:r>
              <a:rPr lang="fr-FR" sz="2300" kern="0" dirty="0"/>
              <a:t> </a:t>
            </a:r>
          </a:p>
          <a:p>
            <a:pPr>
              <a:buSzPts val="1000"/>
              <a:tabLst>
                <a:tab pos="457200" algn="l"/>
              </a:tabLst>
            </a:pPr>
            <a:r>
              <a:rPr lang="fr-FR" sz="2300" b="1" kern="0" dirty="0"/>
              <a:t>Double écoute / Maintien en binôme :</a:t>
            </a:r>
            <a:r>
              <a:rPr lang="fr-FR" sz="2300" kern="0" dirty="0"/>
              <a:t> </a:t>
            </a:r>
          </a:p>
          <a:p>
            <a:pPr>
              <a:buSzPts val="1000"/>
              <a:tabLst>
                <a:tab pos="457200" algn="l"/>
              </a:tabLst>
            </a:pPr>
            <a:r>
              <a:rPr lang="fr-FR" sz="2300" b="1" kern="0" dirty="0"/>
              <a:t>Mise à disposition d'outils :</a:t>
            </a:r>
            <a:r>
              <a:rPr lang="fr-FR" sz="2300" kern="0" dirty="0"/>
              <a:t> </a:t>
            </a:r>
            <a:r>
              <a:rPr lang="fr-FR" sz="2300" i="1" kern="0" dirty="0"/>
              <a:t>(Ex : Trame d'entretien, guide de traitement des objections)</a:t>
            </a:r>
            <a:endParaRPr lang="fr-FR" sz="2300" kern="0" dirty="0"/>
          </a:p>
          <a:p>
            <a:pPr>
              <a:buSzPts val="1000"/>
              <a:tabLst>
                <a:tab pos="457200" algn="l"/>
              </a:tabLst>
            </a:pPr>
            <a:r>
              <a:rPr lang="fr-FR" sz="2300" b="1" kern="0" dirty="0"/>
              <a:t>Mise en situation / Jeux de rôle :</a:t>
            </a:r>
            <a:r>
              <a:rPr lang="fr-FR" sz="2300" kern="0" dirty="0"/>
              <a:t> Prévisibles le _____ / _____ / 2026 avec le manager</a:t>
            </a:r>
          </a:p>
          <a:p>
            <a:pPr>
              <a:buSzPts val="1000"/>
              <a:tabLst>
                <a:tab pos="457200" algn="l"/>
              </a:tabLst>
            </a:pPr>
            <a:endParaRPr lang="fr-FR" kern="0" dirty="0"/>
          </a:p>
          <a:p>
            <a:r>
              <a:rPr lang="fr-FR" sz="1800" b="1" kern="0" dirty="0">
                <a:latin typeface="Calibri" panose="020F0502020204030204" pitchFamily="34" charset="0"/>
              </a:rPr>
              <a:t>CALENDRIER DE SUIVI &amp; ÉCHÉANCES</a:t>
            </a:r>
          </a:p>
          <a:p>
            <a:pPr>
              <a:buSzPts val="1000"/>
              <a:tabLst>
                <a:tab pos="457200" algn="l"/>
              </a:tabLst>
            </a:pPr>
            <a:r>
              <a:rPr lang="fr-FR" sz="2300" b="1" kern="0" dirty="0"/>
              <a:t>Point d'étape intermédiaire (Feedback court de 10 min) :</a:t>
            </a:r>
            <a:r>
              <a:rPr lang="fr-FR" sz="2300" kern="0" dirty="0"/>
              <a:t> Date : _____ / _____ / 2026</a:t>
            </a:r>
          </a:p>
          <a:p>
            <a:pPr>
              <a:buSzPts val="1000"/>
              <a:tabLst>
                <a:tab pos="457200" algn="l"/>
              </a:tabLst>
            </a:pPr>
            <a:r>
              <a:rPr lang="fr-FR" sz="2300" b="1" kern="0" dirty="0"/>
              <a:t>Évaluation finale &amp; Nouvelle écoute de contrôle :</a:t>
            </a:r>
            <a:r>
              <a:rPr lang="fr-FR" sz="2300" kern="0" dirty="0"/>
              <a:t> Date : _____ / _____ / 2026</a:t>
            </a:r>
          </a:p>
          <a:p>
            <a:pPr>
              <a:buSzPts val="1000"/>
              <a:tabLst>
                <a:tab pos="457200" algn="l"/>
              </a:tabLst>
            </a:pPr>
            <a:endParaRPr lang="fr-FR" sz="2300" kern="0" dirty="0"/>
          </a:p>
          <a:p>
            <a:r>
              <a:rPr lang="fr-FR" sz="1900" b="1" kern="0" dirty="0">
                <a:latin typeface="Calibri" panose="020F0502020204030204" pitchFamily="34" charset="0"/>
              </a:rPr>
              <a:t>ENGAGEMENT ET SIGNATURES</a:t>
            </a:r>
            <a:endParaRPr lang="fr-FR" sz="1800" i="1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FR" sz="1800" i="1" kern="0" dirty="0">
                <a:latin typeface="Calibri" panose="020F0502020204030204" pitchFamily="34" charset="0"/>
                <a:ea typeface="Calibri" panose="020F0502020204030204" pitchFamily="34" charset="0"/>
              </a:rPr>
              <a:t>En signant ce document, le collaborateur et le manager s'engagent conjointement à mettre en œuvre les moyens et actions définis ci-dessus pour atteindre les objectifs visés.</a:t>
            </a:r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FR" sz="1800" b="1" kern="0" dirty="0">
                <a:latin typeface="Calibri" panose="020F0502020204030204" pitchFamily="34" charset="0"/>
                <a:ea typeface="Calibri" panose="020F0502020204030204" pitchFamily="34" charset="0"/>
              </a:rPr>
              <a:t>Signature du Collaborateur :</a:t>
            </a:r>
            <a:r>
              <a:rPr lang="fr-FR" sz="1800" kern="0" dirty="0">
                <a:latin typeface="Calibri" panose="020F0502020204030204" pitchFamily="34" charset="0"/>
                <a:ea typeface="Calibri" panose="020F0502020204030204" pitchFamily="34" charset="0"/>
              </a:rPr>
              <a:t>                                        </a:t>
            </a:r>
            <a:r>
              <a:rPr lang="fr-FR" sz="1800" b="1" kern="0" dirty="0">
                <a:latin typeface="Calibri" panose="020F0502020204030204" pitchFamily="34" charset="0"/>
                <a:ea typeface="Calibri" panose="020F0502020204030204" pitchFamily="34" charset="0"/>
              </a:rPr>
              <a:t>Signature du Manager :</a:t>
            </a:r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FR" sz="1800" kern="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43A1983-1B52-4D07-B187-8A0CEABA853F}"/>
              </a:ext>
            </a:extLst>
          </p:cNvPr>
          <p:cNvSpPr txBox="1">
            <a:spLocks/>
          </p:cNvSpPr>
          <p:nvPr/>
        </p:nvSpPr>
        <p:spPr>
          <a:xfrm>
            <a:off x="1247775" y="67996"/>
            <a:ext cx="9696450" cy="1325563"/>
          </a:xfrm>
          <a:prstGeom prst="rect">
            <a:avLst/>
          </a:prstGeom>
          <a:effectLst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>
            <a:noAutofit/>
          </a:bodyPr>
          <a:lstStyle>
            <a:lvl1pPr marL="0" marR="0" indent="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  <a:sym typeface="Swis721 BT"/>
              </a:defRPr>
            </a:lvl1pPr>
            <a:lvl2pPr marL="0" marR="0" indent="1143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2pPr>
            <a:lvl3pPr marL="0" marR="0" indent="2286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3pPr>
            <a:lvl4pPr marL="0" marR="0" indent="3429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4pPr>
            <a:lvl5pPr marL="0" marR="0" indent="4572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5pPr>
            <a:lvl6pPr marL="0" marR="0" indent="5715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6pPr>
            <a:lvl7pPr marL="0" marR="0" indent="6858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7pPr>
            <a:lvl8pPr marL="0" marR="0" indent="8001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8pPr>
            <a:lvl9pPr marL="0" marR="0" indent="914400" algn="l" defTabSz="2921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00" b="1" i="0" u="none" strike="noStrike" cap="none" spc="0" baseline="0">
                <a:ln>
                  <a:noFill/>
                </a:ln>
                <a:solidFill>
                  <a:srgbClr val="013A8D"/>
                </a:solidFill>
                <a:uFillTx/>
                <a:latin typeface="Swis721 BT"/>
                <a:ea typeface="Swis721 BT"/>
                <a:cs typeface="Swis721 BT"/>
                <a:sym typeface="Swis721 BT"/>
              </a:defRPr>
            </a:lvl9pPr>
          </a:lstStyle>
          <a:p>
            <a:r>
              <a:rPr lang="fr-FR" sz="6600" kern="0" dirty="0">
                <a:solidFill>
                  <a:schemeClr val="accent2">
                    <a:lumMod val="75000"/>
                  </a:schemeClr>
                </a:solidFill>
              </a:rPr>
              <a:t>Exemple Fiche Débriefe 2 </a:t>
            </a:r>
          </a:p>
        </p:txBody>
      </p:sp>
    </p:spTree>
    <p:extLst>
      <p:ext uri="{BB962C8B-B14F-4D97-AF65-F5344CB8AC3E}">
        <p14:creationId xmlns:p14="http://schemas.microsoft.com/office/powerpoint/2010/main" val="1801381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D5DFC96-8FDC-456F-9973-DAC50B96B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1" y="339950"/>
            <a:ext cx="7647516" cy="482343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47B4D9F-309C-434B-AC35-513699CD3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246" y="5695320"/>
            <a:ext cx="2597121" cy="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92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hite">
  <a:themeElements>
    <a:clrScheme name="EINEW1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515151"/>
      </a:accent1>
      <a:accent2>
        <a:srgbClr val="C00000"/>
      </a:accent2>
      <a:accent3>
        <a:srgbClr val="0089C8"/>
      </a:accent3>
      <a:accent4>
        <a:srgbClr val="FFC000"/>
      </a:accent4>
      <a:accent5>
        <a:srgbClr val="7F155F"/>
      </a:accent5>
      <a:accent6>
        <a:srgbClr val="00B050"/>
      </a:accent6>
      <a:hlink>
        <a:srgbClr val="002060"/>
      </a:hlink>
      <a:folHlink>
        <a:srgbClr val="C00000"/>
      </a:folHlink>
    </a:clrScheme>
    <a:fontScheme name="EI">
      <a:majorFont>
        <a:latin typeface="Segoe UI Semibold"/>
        <a:ea typeface=""/>
        <a:cs typeface=""/>
      </a:majorFont>
      <a:minorFont>
        <a:latin typeface="Segoe UI Light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7473D"/>
        </a:solidFill>
        <a:ln w="12700" cap="flat">
          <a:noFill/>
          <a:miter lim="400000"/>
        </a:ln>
        <a:effectLst>
          <a:outerShdw blurRad="825500" dist="165100" dir="5400000" algn="t" rotWithShape="0">
            <a:prstClr val="black">
              <a:alpha val="20000"/>
            </a:prst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normAutofit/>
      </a:bodyPr>
      <a:lstStyle>
        <a:defPPr>
          <a:defRPr sz="3200" dirty="0" err="1">
            <a:solidFill>
              <a:schemeClr val="bg1"/>
            </a:solidFill>
            <a:latin typeface="Swis721 BT Roman" charset="0"/>
            <a:ea typeface="Swis721 BT Roman" charset="0"/>
            <a:cs typeface="Swis721 BT Roman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NewEI.potm" id="{3837DAC6-C0AF-4738-8747-F0A5692CCF5B}" vid="{1544BDF0-F420-4395-A121-0843116AD941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2795</TotalTime>
  <Words>830</Words>
  <Application>Microsoft Office PowerPoint</Application>
  <PresentationFormat>Grand écran</PresentationFormat>
  <Paragraphs>130</Paragraphs>
  <Slides>9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22" baseType="lpstr">
      <vt:lpstr>MS Gothic</vt:lpstr>
      <vt:lpstr>Arial</vt:lpstr>
      <vt:lpstr>Calibri</vt:lpstr>
      <vt:lpstr>Calibri Light</vt:lpstr>
      <vt:lpstr>Segoe UI Light</vt:lpstr>
      <vt:lpstr>Segoe UI Semibold</vt:lpstr>
      <vt:lpstr>Segoe UI Semilight</vt:lpstr>
      <vt:lpstr>Swis721 BT</vt:lpstr>
      <vt:lpstr>Swis721 BT Roman</vt:lpstr>
      <vt:lpstr>Symbol</vt:lpstr>
      <vt:lpstr>Wingdings</vt:lpstr>
      <vt:lpstr>Thème Office</vt:lpstr>
      <vt:lpstr>2_White</vt:lpstr>
      <vt:lpstr>Process Débriefe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Débriefe</dc:title>
  <dc:creator>BELRHITI Hajar [EIDS]</dc:creator>
  <cp:lastModifiedBy>BELRHITI Hajar [EIDS]</cp:lastModifiedBy>
  <cp:revision>31</cp:revision>
  <dcterms:created xsi:type="dcterms:W3CDTF">2026-08-17T15:32:02Z</dcterms:created>
  <dcterms:modified xsi:type="dcterms:W3CDTF">2026-08-19T14:07:50Z</dcterms:modified>
</cp:coreProperties>
</file>